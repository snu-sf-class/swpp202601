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76" r:id="rId3"/>
    <p:sldId id="277" r:id="rId4"/>
    <p:sldId id="278" r:id="rId5"/>
    <p:sldId id="279" r:id="rId6"/>
    <p:sldId id="280" r:id="rId7"/>
    <p:sldId id="282" r:id="rId8"/>
    <p:sldId id="286" r:id="rId9"/>
    <p:sldId id="272" r:id="rId10"/>
    <p:sldId id="273" r:id="rId11"/>
    <p:sldId id="274" r:id="rId12"/>
    <p:sldId id="284" r:id="rId13"/>
    <p:sldId id="283" r:id="rId14"/>
    <p:sldId id="287" r:id="rId15"/>
    <p:sldId id="285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Medium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Medium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Medium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Medium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Medium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Medium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Medium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Medium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Medium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6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6" name="Shape 13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Good morning, my name is Sung-Hwan Lee and today I will present our work on developing an in-order relaxed memory model with a minimal performance overhead.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6" name="Shape 19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Then, the natural question would be: can we model all relaxed behaviors with in-order executions?</a:t>
            </a:r>
          </a:p>
          <a:p>
            <a:r>
              <a:t>To do so, we may use other mechanisms that allow us to model relaxed behaviors while keeping the execution of the program in-order.</a:t>
            </a:r>
          </a:p>
          <a:p>
            <a:r>
              <a:t>For example, store buffers or thread views.</a:t>
            </a:r>
          </a:p>
          <a:p>
            <a:r>
              <a:t>[▶] Unfortunately, even with these mechanisms, the answer is no.</a:t>
            </a:r>
            <a:br/>
            <a:r>
              <a:t>And that’s why efficient memory models use ooo executions.</a:t>
            </a:r>
          </a:p>
          <a:p>
            <a:r>
              <a:t>[▶] So, an in-order model should restrict some relaxed behaviors, and thus, these models have performance overheads.</a:t>
            </a:r>
          </a:p>
        </p:txBody>
      </p:sp>
    </p:spTree>
    <p:extLst>
      <p:ext uri="{BB962C8B-B14F-4D97-AF65-F5344CB8AC3E}">
        <p14:creationId xmlns:p14="http://schemas.microsoft.com/office/powerpoint/2010/main" val="740346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6" name="Shape 19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Then, the natural question would be: can we model all relaxed behaviors with in-order executions?</a:t>
            </a:r>
          </a:p>
          <a:p>
            <a:r>
              <a:t>To do so, we may use other mechanisms that allow us to model relaxed behaviors while keeping the execution of the program in-order.</a:t>
            </a:r>
          </a:p>
          <a:p>
            <a:r>
              <a:t>For example, store buffers or thread views.</a:t>
            </a:r>
          </a:p>
          <a:p>
            <a:r>
              <a:t>[▶] Unfortunately, even with these mechanisms, the answer is no.</a:t>
            </a:r>
            <a:br/>
            <a:r>
              <a:t>And that’s why efficient memory models use ooo executions.</a:t>
            </a:r>
          </a:p>
          <a:p>
            <a:r>
              <a:t>[▶] So, an in-order model should restrict some relaxed behaviors, and thus, these models have performance overheads.</a:t>
            </a:r>
          </a:p>
        </p:txBody>
      </p:sp>
    </p:spTree>
    <p:extLst>
      <p:ext uri="{BB962C8B-B14F-4D97-AF65-F5344CB8AC3E}">
        <p14:creationId xmlns:p14="http://schemas.microsoft.com/office/powerpoint/2010/main" val="3819188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6" name="Shape 19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Then, the natural question would be: can we model all relaxed behaviors with in-order executions?</a:t>
            </a:r>
          </a:p>
          <a:p>
            <a:r>
              <a:t>To do so, we may use other mechanisms that allow us to model relaxed behaviors while keeping the execution of the program in-order.</a:t>
            </a:r>
          </a:p>
          <a:p>
            <a:r>
              <a:t>For example, store buffers or thread views.</a:t>
            </a:r>
          </a:p>
          <a:p>
            <a:r>
              <a:t>[▶] Unfortunately, even with these mechanisms, the answer is no.</a:t>
            </a:r>
            <a:br/>
            <a:r>
              <a:t>And that’s why efficient memory models use ooo executions.</a:t>
            </a:r>
          </a:p>
          <a:p>
            <a:r>
              <a:t>[▶] So, an in-order model should restrict some relaxed behaviors, and thus, these models have performance overheads.</a:t>
            </a:r>
          </a:p>
        </p:txBody>
      </p:sp>
    </p:spTree>
    <p:extLst>
      <p:ext uri="{BB962C8B-B14F-4D97-AF65-F5344CB8AC3E}">
        <p14:creationId xmlns:p14="http://schemas.microsoft.com/office/powerpoint/2010/main" val="4237263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6" name="Shape 19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Then, the natural question would be: can we model all relaxed behaviors with in-order executions?</a:t>
            </a:r>
          </a:p>
          <a:p>
            <a:r>
              <a:t>To do so, we may use other mechanisms that allow us to model relaxed behaviors while keeping the execution of the program in-order.</a:t>
            </a:r>
          </a:p>
          <a:p>
            <a:r>
              <a:t>For example, store buffers or thread views.</a:t>
            </a:r>
          </a:p>
          <a:p>
            <a:r>
              <a:t>[▶] Unfortunately, even with these mechanisms, the answer is no.</a:t>
            </a:r>
            <a:br/>
            <a:r>
              <a:t>And that’s why efficient memory models use ooo executions.</a:t>
            </a:r>
          </a:p>
          <a:p>
            <a:r>
              <a:t>[▶] So, an in-order model should restrict some relaxed behaviors, and thus, these models have performance overheads.</a:t>
            </a:r>
          </a:p>
        </p:txBody>
      </p:sp>
    </p:spTree>
    <p:extLst>
      <p:ext uri="{BB962C8B-B14F-4D97-AF65-F5344CB8AC3E}">
        <p14:creationId xmlns:p14="http://schemas.microsoft.com/office/powerpoint/2010/main" val="1394724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9" name="Shape 4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All in all, we developed an in-order memory model with only negligible overhead.</a:t>
            </a:r>
          </a:p>
          <a:p>
            <a:r>
              <a:t>[▶] We provided an in-order source model for programmers based on the promise-free fragment of the promising semantics.</a:t>
            </a:r>
          </a:p>
          <a:p>
            <a:r>
              <a:t>[▶] This model can be efficiently compiled to hardware only with negligible performance overhead.</a:t>
            </a:r>
          </a:p>
          <a:p>
            <a:r>
              <a:t>The IR model allows ooo executions for NA writes, and it is based on the promising semantics.</a:t>
            </a:r>
          </a:p>
          <a:p>
            <a:r>
              <a:t>[▶] We also provided a simple sequential model for compiler writers by applying the result of our paper at the last PLDI.</a:t>
            </a:r>
          </a:p>
          <a:p>
            <a:r>
              <a:t>Specifically, we proved that [▶] a compiler optimization correct under the sequential model [▶] is also correct under the IR model.</a:t>
            </a:r>
          </a:p>
          <a:p>
            <a:r>
              <a:t>Therefore, programmers as well as compiler writers do not need to understand the complex IR model.</a:t>
            </a:r>
          </a:p>
          <a:p>
            <a:r>
              <a:t>In the paper, you can find more details about the source and IR models and formal results on them.</a:t>
            </a:r>
          </a:p>
          <a:p>
            <a:r>
              <a:t>This is the end of my talk, and thank you for listening.</a:t>
            </a:r>
          </a:p>
          <a:p>
            <a:endParaRPr/>
          </a:p>
          <a:p>
            <a:endParaRPr/>
          </a:p>
          <a:p>
            <a:r>
              <a:t>Compiler writers’ intention is to optimize non-atomic code as if sequential program.</a:t>
            </a:r>
          </a:p>
          <a:p>
            <a:r>
              <a:t>We actually proved this intuition by proving that all optimizations correct under a sequential machine is also correct under our IR model.</a:t>
            </a:r>
          </a:p>
          <a:p>
            <a:r>
              <a:t>I am not aware of any optimization performed by compilers and unsound in the sequential model.</a:t>
            </a:r>
          </a:p>
          <a:p>
            <a:r>
              <a:t>So we can say that the IR model supports all compiler optimizations performed by current compilers.</a:t>
            </a:r>
          </a:p>
        </p:txBody>
      </p:sp>
    </p:spTree>
    <p:extLst>
      <p:ext uri="{BB962C8B-B14F-4D97-AF65-F5344CB8AC3E}">
        <p14:creationId xmlns:p14="http://schemas.microsoft.com/office/powerpoint/2010/main" val="2748349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9" name="Shape 4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All in all, we developed an in-order memory model with only negligible overhead.</a:t>
            </a:r>
          </a:p>
          <a:p>
            <a:r>
              <a:t>[▶] We provided an in-order source model for programmers based on the promise-free fragment of the promising semantics.</a:t>
            </a:r>
          </a:p>
          <a:p>
            <a:r>
              <a:t>[▶] This model can be efficiently compiled to hardware only with negligible performance overhead.</a:t>
            </a:r>
          </a:p>
          <a:p>
            <a:r>
              <a:t>The IR model allows ooo executions for NA writes, and it is based on the promising semantics.</a:t>
            </a:r>
          </a:p>
          <a:p>
            <a:r>
              <a:t>[▶] We also provided a simple sequential model for compiler writers by applying the result of our paper at the last PLDI.</a:t>
            </a:r>
          </a:p>
          <a:p>
            <a:r>
              <a:t>Specifically, we proved that [▶] a compiler optimization correct under the sequential model [▶] is also correct under the IR model.</a:t>
            </a:r>
          </a:p>
          <a:p>
            <a:r>
              <a:t>Therefore, programmers as well as compiler writers do not need to understand the complex IR model.</a:t>
            </a:r>
          </a:p>
          <a:p>
            <a:r>
              <a:t>In the paper, you can find more details about the source and IR models and formal results on them.</a:t>
            </a:r>
          </a:p>
          <a:p>
            <a:r>
              <a:t>This is the end of my talk, and thank you for listening.</a:t>
            </a:r>
          </a:p>
          <a:p>
            <a:endParaRPr/>
          </a:p>
          <a:p>
            <a:endParaRPr/>
          </a:p>
          <a:p>
            <a:r>
              <a:t>Compiler writers’ intention is to optimize non-atomic code as if sequential program.</a:t>
            </a:r>
          </a:p>
          <a:p>
            <a:r>
              <a:t>We actually proved this intuition by proving that all optimizations correct under a sequential machine is also correct under our IR model.</a:t>
            </a:r>
          </a:p>
          <a:p>
            <a:r>
              <a:t>I am not aware of any optimization performed by compilers and unsound in the sequential model.</a:t>
            </a:r>
          </a:p>
          <a:p>
            <a:r>
              <a:t>So we can say that the IR model supports all compiler optimizations performed by current compilers.</a:t>
            </a:r>
          </a:p>
        </p:txBody>
      </p:sp>
    </p:spTree>
    <p:extLst>
      <p:ext uri="{BB962C8B-B14F-4D97-AF65-F5344CB8AC3E}">
        <p14:creationId xmlns:p14="http://schemas.microsoft.com/office/powerpoint/2010/main" val="2951720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6" name="Shape 19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Then, the natural question would be: can we model all relaxed behaviors with in-order executions?</a:t>
            </a:r>
          </a:p>
          <a:p>
            <a:r>
              <a:t>To do so, we may use other mechanisms that allow us to model relaxed behaviors while keeping the execution of the program in-order.</a:t>
            </a:r>
          </a:p>
          <a:p>
            <a:r>
              <a:t>For example, store buffers or thread views.</a:t>
            </a:r>
          </a:p>
          <a:p>
            <a:r>
              <a:t>[▶] Unfortunately, even with these mechanisms, the answer is no.</a:t>
            </a:r>
            <a:br/>
            <a:r>
              <a:t>And that’s why efficient memory models use ooo executions.</a:t>
            </a:r>
          </a:p>
          <a:p>
            <a:r>
              <a:t>[▶] So, an in-order model should restrict some relaxed behaviors, and thus, these models have performance overheads.</a:t>
            </a:r>
          </a:p>
        </p:txBody>
      </p:sp>
    </p:spTree>
    <p:extLst>
      <p:ext uri="{BB962C8B-B14F-4D97-AF65-F5344CB8AC3E}">
        <p14:creationId xmlns:p14="http://schemas.microsoft.com/office/powerpoint/2010/main" val="1262374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82" name="Shape 38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Now, we need to understand the performance impact of restricting load-store reordering.</a:t>
            </a:r>
          </a:p>
          <a:p>
            <a:r>
              <a:t>Among the four kinds of reorderings, three of them are observed on most CPU implementations of Arm and Power, while load-store reordering is only observed on few Arm CPUs.</a:t>
            </a:r>
          </a:p>
          <a:p>
            <a:r>
              <a:t>[▶] This is because the performance impact of three reorderings in hardware is significant while the impact of load-store reordering is small.</a:t>
            </a:r>
          </a:p>
          <a:p>
            <a:r>
              <a:t>In fact, [▶] we consulted Arm engineers and learned why the performance benefit of load-store reordering is so small.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hape 42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8" name="Shape 42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 see why, suppose that a CPU core is about to execute a store Y=1 and the previous load from X is still in progress because it is taking a long time.</a:t>
            </a:r>
          </a:p>
          <a:p>
            <a:r>
              <a:t>Now, [▶] when the store is executed, it is first moved to a core-local store buffer.</a:t>
            </a:r>
          </a:p>
          <a:p>
            <a:r>
              <a:t>Then, [▶] in the perspective of its own core, the store Y=1 can be treated as completed before the completion of the previous load.</a:t>
            </a:r>
          </a:p>
          <a:p>
            <a:r>
              <a:t>Therefore, the core may execute the [▶▶] later instructions, and the store in the buffer will not block any further execution.</a:t>
            </a:r>
          </a:p>
          <a:p>
            <a:r>
              <a:t>At some point, [▶] the store will be committed and become visible to other cores.</a:t>
            </a:r>
          </a:p>
          <a:p>
            <a:r>
              <a:t>[▶] There are two approaches to when to commit a store.</a:t>
            </a:r>
          </a:p>
          <a:p>
            <a:r>
              <a:t>Specifically, we can either forbid or allow the commit before the completion of the previous load.</a:t>
            </a:r>
          </a:p>
          <a:p>
            <a:r>
              <a:t>First, if we forbid the early commit, [▶] load-store reordering is not visible to other cores.</a:t>
            </a:r>
          </a:p>
          <a:p>
            <a:r>
              <a:t>[▶] This is what actually happens on most CPUs where load-store reordering is never observed.</a:t>
            </a:r>
          </a:p>
          <a:p>
            <a:r>
              <a:t>On the other hand, we may allow the early commit, and then, [▶] load-store reordering becomes visible to other cores.</a:t>
            </a:r>
          </a:p>
          <a:p>
            <a:r>
              <a:t>[▶] This makes the CPU design more complex, but [▶] the early commit has no performance benefit unless the buffer is full.</a:t>
            </a:r>
          </a:p>
          <a:p>
            <a:r>
              <a:t>That’s why the benefit of load-store reordering is small and [▶] only few CPUs perform it.</a:t>
            </a:r>
          </a:p>
          <a:p>
            <a:r>
              <a:t>I also note that hardware engineers do not evaluate performance impact of in-core optimizations on concurrent executions.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40" name="Shape 4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Accordingly, for efficient compilation of an in-order model, we propose strong store instructions that prevent reordering only with previous loads.</a:t>
            </a:r>
          </a:p>
          <a:p>
            <a:r>
              <a:t>On most CPUs that do not reorder load and store, a strong store has no performance overhead.</a:t>
            </a:r>
          </a:p>
          <a:p>
            <a:r>
              <a:t>Even on few CPUs that *do* reorder load and store, a strong store can be implemented only with a small performance overhead.</a:t>
            </a:r>
          </a:p>
          <a:p>
            <a:r>
              <a:t>[▶] Then, we can use strong store for compiling relaxed writes.</a:t>
            </a:r>
          </a:p>
          <a:p>
            <a:r>
              <a:t>Crucially, since non-atomic writes are still compiled to plain hardware stores, strong stores are only rarely used.</a:t>
            </a:r>
            <a:br/>
            <a:r>
              <a:t>[▶] Therefore, the performance overhead is negligible, if any.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6" name="Shape 19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Then, the natural question would be: can we model all relaxed behaviors with in-order executions?</a:t>
            </a:r>
          </a:p>
          <a:p>
            <a:r>
              <a:t>To do so, we may use other mechanisms that allow us to model relaxed behaviors while keeping the execution of the program in-order.</a:t>
            </a:r>
          </a:p>
          <a:p>
            <a:r>
              <a:t>For example, store buffers or thread views.</a:t>
            </a:r>
          </a:p>
          <a:p>
            <a:r>
              <a:t>[▶] Unfortunately, even with these mechanisms, the answer is no.</a:t>
            </a:r>
            <a:br/>
            <a:r>
              <a:t>And that’s why efficient memory models use ooo executions.</a:t>
            </a:r>
          </a:p>
          <a:p>
            <a:r>
              <a:t>[▶] So, an in-order model should restrict some relaxed behaviors, and thus, these models have performance overheads.</a:t>
            </a:r>
          </a:p>
        </p:txBody>
      </p:sp>
    </p:spTree>
    <p:extLst>
      <p:ext uri="{BB962C8B-B14F-4D97-AF65-F5344CB8AC3E}">
        <p14:creationId xmlns:p14="http://schemas.microsoft.com/office/powerpoint/2010/main" val="10625538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9" name="Shape 4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All in all, we developed an in-order memory model with only negligible overhead.</a:t>
            </a:r>
          </a:p>
          <a:p>
            <a:r>
              <a:t>[▶] We provided an in-order source model for programmers based on the promise-free fragment of the promising semantics.</a:t>
            </a:r>
          </a:p>
          <a:p>
            <a:r>
              <a:t>[▶] This model can be efficiently compiled to hardware only with negligible performance overhead.</a:t>
            </a:r>
          </a:p>
          <a:p>
            <a:r>
              <a:t>The IR model allows ooo executions for NA writes, and it is based on the promising semantics.</a:t>
            </a:r>
          </a:p>
          <a:p>
            <a:r>
              <a:t>[▶] We also provided a simple sequential model for compiler writers by applying the result of our paper at the last PLDI.</a:t>
            </a:r>
          </a:p>
          <a:p>
            <a:r>
              <a:t>Specifically, we proved that [▶] a compiler optimization correct under the sequential model [▶] is also correct under the IR model.</a:t>
            </a:r>
          </a:p>
          <a:p>
            <a:r>
              <a:t>Therefore, programmers as well as compiler writers do not need to understand the complex IR model.</a:t>
            </a:r>
          </a:p>
          <a:p>
            <a:r>
              <a:t>In the paper, you can find more details about the source and IR models and formal results on them.</a:t>
            </a:r>
          </a:p>
          <a:p>
            <a:r>
              <a:t>This is the end of my talk, and thank you for listening.</a:t>
            </a:r>
          </a:p>
          <a:p>
            <a:endParaRPr/>
          </a:p>
          <a:p>
            <a:endParaRPr/>
          </a:p>
          <a:p>
            <a:r>
              <a:t>Compiler writers’ intention is to optimize non-atomic code as if sequential program.</a:t>
            </a:r>
          </a:p>
          <a:p>
            <a:r>
              <a:t>We actually proved this intuition by proving that all optimizations correct under a sequential machine is also correct under our IR model.</a:t>
            </a:r>
          </a:p>
          <a:p>
            <a:r>
              <a:t>I am not aware of any optimization performed by compilers and unsound in the sequential model.</a:t>
            </a:r>
          </a:p>
          <a:p>
            <a:r>
              <a:t>So we can say that the IR model supports all compiler optimizations performed by current compilers.</a:t>
            </a:r>
          </a:p>
        </p:txBody>
      </p:sp>
    </p:spTree>
    <p:extLst>
      <p:ext uri="{BB962C8B-B14F-4D97-AF65-F5344CB8AC3E}">
        <p14:creationId xmlns:p14="http://schemas.microsoft.com/office/powerpoint/2010/main" val="29001157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40" name="Shape 4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Accordingly, for efficient compilation of an in-order model, we propose strong store instructions that prevent reordering only with previous loads.</a:t>
            </a:r>
          </a:p>
          <a:p>
            <a:r>
              <a:t>On most CPUs that do not reorder load and store, a strong store has no performance overhead.</a:t>
            </a:r>
          </a:p>
          <a:p>
            <a:r>
              <a:t>Even on few CPUs that *do* reorder load and store, a strong store can be implemented only with a small performance overhead.</a:t>
            </a:r>
          </a:p>
          <a:p>
            <a:r>
              <a:t>[▶] Then, we can use strong store for compiling relaxed writes.</a:t>
            </a:r>
          </a:p>
          <a:p>
            <a:r>
              <a:t>Crucially, since non-atomic writes are still compiled to plain hardware stores, strong stores are only rarely used.</a:t>
            </a:r>
            <a:br/>
            <a:r>
              <a:t>[▶] Therefore, the performance overhead is negligible, if any.</a:t>
            </a:r>
          </a:p>
        </p:txBody>
      </p:sp>
    </p:spTree>
    <p:extLst>
      <p:ext uri="{BB962C8B-B14F-4D97-AF65-F5344CB8AC3E}">
        <p14:creationId xmlns:p14="http://schemas.microsoft.com/office/powerpoint/2010/main" val="1217823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6" name="Shape 19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Then, the natural question would be: can we model all relaxed behaviors with in-order executions?</a:t>
            </a:r>
          </a:p>
          <a:p>
            <a:r>
              <a:t>To do so, we may use other mechanisms that allow us to model relaxed behaviors while keeping the execution of the program in-order.</a:t>
            </a:r>
          </a:p>
          <a:p>
            <a:r>
              <a:t>For example, store buffers or thread views.</a:t>
            </a:r>
          </a:p>
          <a:p>
            <a:r>
              <a:t>[▶] Unfortunately, even with these mechanisms, the answer is no.</a:t>
            </a:r>
            <a:br/>
            <a:r>
              <a:t>And that’s why efficient memory models use ooo executions.</a:t>
            </a:r>
          </a:p>
          <a:p>
            <a:r>
              <a:t>[▶] So, an in-order model should restrict some relaxed behaviors, and thus, these models have performance overheads.</a:t>
            </a:r>
          </a:p>
        </p:txBody>
      </p:sp>
    </p:spTree>
    <p:extLst>
      <p:ext uri="{BB962C8B-B14F-4D97-AF65-F5344CB8AC3E}">
        <p14:creationId xmlns:p14="http://schemas.microsoft.com/office/powerpoint/2010/main" val="1450415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및 부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제목 텍스트</a:t>
            </a:r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수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10809_familychineseoahu_en_02390_2880x1921.jpeg"/>
          <p:cNvSpPr>
            <a:spLocks noGrp="1"/>
          </p:cNvSpPr>
          <p:nvPr>
            <p:ph type="pic" idx="21"/>
          </p:nvPr>
        </p:nvSpPr>
        <p:spPr>
          <a:xfrm>
            <a:off x="3124200" y="-38100"/>
            <a:ext cx="18135600" cy="120966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제목 텍스트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제목 텍스트</a:t>
            </a:r>
          </a:p>
        </p:txBody>
      </p:sp>
      <p:sp>
        <p:nvSpPr>
          <p:cNvPr id="2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- 가운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제목 텍스트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수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110809_familychineseoahu_en_00317_2040x1360.jpeg"/>
          <p:cNvSpPr>
            <a:spLocks noGrp="1"/>
          </p:cNvSpPr>
          <p:nvPr>
            <p:ph type="pic" idx="21"/>
          </p:nvPr>
        </p:nvSpPr>
        <p:spPr>
          <a:xfrm>
            <a:off x="7950200" y="1104900"/>
            <a:ext cx="17259302" cy="11506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제목 텍스트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제목 텍스트</a:t>
            </a:r>
          </a:p>
        </p:txBody>
      </p:sp>
      <p:sp>
        <p:nvSpPr>
          <p:cNvPr id="40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- 상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9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7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xfrm>
            <a:off x="11937136" y="13081000"/>
            <a:ext cx="509728" cy="52308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110809_familychineseoahu_en_00317_2040x1360.jpeg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67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6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110809_familychineseoahu_en_02390_2880x1921.jpeg"/>
          <p:cNvSpPr>
            <a:spLocks noGrp="1"/>
          </p:cNvSpPr>
          <p:nvPr>
            <p:ph type="pic" sz="quarter" idx="21"/>
          </p:nvPr>
        </p:nvSpPr>
        <p:spPr>
          <a:xfrm>
            <a:off x="15681340" y="7035800"/>
            <a:ext cx="8396678" cy="5600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110809_familychineseoahu_en_02016_981x654.jpeg"/>
          <p:cNvSpPr>
            <a:spLocks noGrp="1"/>
          </p:cNvSpPr>
          <p:nvPr>
            <p:ph type="pic" sz="quarter" idx="22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110809_familychineseoahu_en_00317_2040x1360.jpeg"/>
          <p:cNvSpPr>
            <a:spLocks noGrp="1"/>
          </p:cNvSpPr>
          <p:nvPr>
            <p:ph type="pic" idx="23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여기에 인용을 입력하십시오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54141"/>
            <a:ext cx="19621500" cy="87111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“여기에 인용을 입력하십시오.” </a:t>
            </a:r>
          </a:p>
        </p:txBody>
      </p:sp>
      <p:sp>
        <p:nvSpPr>
          <p:cNvPr id="9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110809_familychineseoahu_en_02390_2880x1921.jpeg"/>
          <p:cNvSpPr>
            <a:spLocks noGrp="1"/>
          </p:cNvSpPr>
          <p:nvPr>
            <p:ph type="pic" idx="21"/>
          </p:nvPr>
        </p:nvSpPr>
        <p:spPr>
          <a:xfrm>
            <a:off x="0" y="0"/>
            <a:ext cx="24384000" cy="16264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118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 sz="4800"/>
            </a:lvl1pPr>
            <a:lvl2pPr>
              <a:lnSpc>
                <a:spcPct val="120000"/>
              </a:lnSpc>
              <a:defRPr sz="4800"/>
            </a:lvl2pPr>
            <a:lvl3pPr>
              <a:lnSpc>
                <a:spcPct val="120000"/>
              </a:lnSpc>
              <a:defRPr sz="4800"/>
            </a:lvl3pPr>
            <a:lvl4pPr>
              <a:lnSpc>
                <a:spcPct val="120000"/>
              </a:lnSpc>
              <a:defRPr sz="4800"/>
            </a:lvl4pPr>
            <a:lvl5pPr>
              <a:lnSpc>
                <a:spcPct val="120000"/>
              </a:lnSpc>
              <a:defRPr sz="48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19" name="01"/>
          <p:cNvSpPr txBox="1">
            <a:spLocks noGrp="1"/>
          </p:cNvSpPr>
          <p:nvPr>
            <p:ph type="sldNum" sz="quarter" idx="2"/>
          </p:nvPr>
        </p:nvSpPr>
        <p:spPr>
          <a:xfrm>
            <a:off x="11937136" y="13081000"/>
            <a:ext cx="509728" cy="52308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제목 텍스트</a:t>
            </a:r>
          </a:p>
        </p:txBody>
      </p:sp>
      <p:sp>
        <p:nvSpPr>
          <p:cNvPr id="3" name="01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40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40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40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40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40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40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40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40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40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utting Weak Memory in Order via a Promising Intermediate Representations"/>
          <p:cNvSpPr txBox="1">
            <a:spLocks noGrp="1"/>
          </p:cNvSpPr>
          <p:nvPr>
            <p:ph type="ctrTitle"/>
          </p:nvPr>
        </p:nvSpPr>
        <p:spPr>
          <a:xfrm>
            <a:off x="1267490" y="973776"/>
            <a:ext cx="21849020" cy="3473909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59459">
              <a:lnSpc>
                <a:spcPct val="110000"/>
              </a:lnSpc>
              <a:defRPr sz="8096"/>
            </a:pPr>
            <a:r>
              <a:rPr lang="en-US" sz="8400" dirty="0"/>
              <a:t>In-order execution nails</a:t>
            </a:r>
            <a:br>
              <a:rPr lang="en-US" sz="8400" dirty="0"/>
            </a:br>
            <a:r>
              <a:rPr lang="en-US" sz="8400" dirty="0"/>
              <a:t>every weak memory</a:t>
            </a:r>
            <a:r>
              <a:rPr lang="ko-KR" altLang="en-US" sz="8400" dirty="0"/>
              <a:t> </a:t>
            </a:r>
            <a:r>
              <a:rPr lang="en-US" sz="8400" dirty="0"/>
              <a:t>behavior</a:t>
            </a:r>
            <a:endParaRPr sz="8400" dirty="0"/>
          </a:p>
        </p:txBody>
      </p:sp>
      <p:sp>
        <p:nvSpPr>
          <p:cNvPr id="129" name="Sung-Hwan Lee    Minki Cho…"/>
          <p:cNvSpPr txBox="1">
            <a:spLocks noGrp="1"/>
          </p:cNvSpPr>
          <p:nvPr>
            <p:ph type="subTitle" sz="quarter" idx="1"/>
          </p:nvPr>
        </p:nvSpPr>
        <p:spPr>
          <a:xfrm>
            <a:off x="1389413" y="7041407"/>
            <a:ext cx="21518088" cy="580769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ko-KR" b="1" dirty="0">
                <a:latin typeface="Times New Roman" panose="02020603050405020304" pitchFamily="18" charset="0"/>
                <a:ea typeface="새굴림" panose="02030600000101010101" pitchFamily="18" charset="-127"/>
                <a:cs typeface="Times New Roman" panose="02020603050405020304" pitchFamily="18" charset="0"/>
              </a:rPr>
              <a:t>Chung-</a:t>
            </a:r>
            <a:r>
              <a:rPr lang="en-US" altLang="ko-KR" b="1" dirty="0" err="1">
                <a:latin typeface="Times New Roman" panose="02020603050405020304" pitchFamily="18" charset="0"/>
                <a:ea typeface="새굴림" panose="02030600000101010101" pitchFamily="18" charset="-127"/>
                <a:cs typeface="Times New Roman" panose="02020603050405020304" pitchFamily="18" charset="0"/>
              </a:rPr>
              <a:t>Kil</a:t>
            </a:r>
            <a:r>
              <a:rPr lang="ko-KR" altLang="en-US" b="1" dirty="0">
                <a:latin typeface="Times New Roman" panose="02020603050405020304" pitchFamily="18" charset="0"/>
                <a:ea typeface="새굴림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ea typeface="새굴림" panose="02030600000101010101" pitchFamily="18" charset="-127"/>
                <a:cs typeface="Times New Roman" panose="02020603050405020304" pitchFamily="18" charset="0"/>
              </a:rPr>
              <a:t>Hur</a:t>
            </a:r>
            <a:br>
              <a:rPr lang="en-US" altLang="ko-KR" b="1" dirty="0">
                <a:latin typeface="Times New Roman" panose="02020603050405020304" pitchFamily="18" charset="0"/>
                <a:ea typeface="새굴림" panose="02030600000101010101" pitchFamily="18" charset="-127"/>
                <a:cs typeface="Times New Roman" panose="02020603050405020304" pitchFamily="18" charset="0"/>
              </a:rPr>
            </a:br>
            <a:r>
              <a:rPr lang="en-US" altLang="ko-KR" b="1" dirty="0">
                <a:latin typeface="Times New Roman" panose="02020603050405020304" pitchFamily="18" charset="0"/>
                <a:ea typeface="새굴림" panose="02030600000101010101" pitchFamily="18" charset="-127"/>
                <a:cs typeface="Times New Roman" panose="02020603050405020304" pitchFamily="18" charset="0"/>
              </a:rPr>
              <a:t>Seoul National University</a:t>
            </a:r>
          </a:p>
          <a:p>
            <a:pPr eaLnBrk="1" hangingPunct="1"/>
            <a:endParaRPr lang="en-US" altLang="ko-KR" b="1" dirty="0">
              <a:latin typeface="Times New Roman" panose="02020603050405020304" pitchFamily="18" charset="0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ko-KR" b="1" dirty="0">
                <a:latin typeface="Times New Roman" panose="02020603050405020304" pitchFamily="18" charset="0"/>
                <a:ea typeface="새굴림" panose="02030600000101010101" pitchFamily="18" charset="-127"/>
                <a:cs typeface="Times New Roman" panose="02020603050405020304" pitchFamily="18" charset="0"/>
              </a:rPr>
              <a:t>@The Future of Weak Memory 2024</a:t>
            </a:r>
          </a:p>
          <a:p>
            <a:pPr eaLnBrk="1" hangingPunct="1"/>
            <a:endParaRPr lang="en-US" altLang="ko-KR" b="1" dirty="0">
              <a:latin typeface="Times New Roman" panose="02020603050405020304" pitchFamily="18" charset="0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Times New Roman" panose="02020603050405020304" pitchFamily="18" charset="0"/>
                <a:ea typeface="새굴림" panose="02030600000101010101" pitchFamily="18" charset="-127"/>
                <a:cs typeface="Times New Roman" panose="02020603050405020304" pitchFamily="18" charset="0"/>
              </a:rPr>
              <a:t>In collaboration with</a:t>
            </a:r>
          </a:p>
          <a:p>
            <a:r>
              <a:rPr lang="en-US" altLang="ko-KR" b="1" dirty="0">
                <a:latin typeface="Times New Roman" panose="02020603050405020304" pitchFamily="18" charset="0"/>
                <a:ea typeface="새굴림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ea typeface="새굴림" panose="02030600000101010101" pitchFamily="18" charset="-127"/>
                <a:cs typeface="Times New Roman" panose="02020603050405020304" pitchFamily="18" charset="0"/>
              </a:rPr>
              <a:t>Sunghwan</a:t>
            </a:r>
            <a:r>
              <a:rPr lang="en-US" altLang="ko-KR" b="1" dirty="0">
                <a:latin typeface="Times New Roman" panose="02020603050405020304" pitchFamily="18" charset="0"/>
                <a:ea typeface="새굴림" panose="02030600000101010101" pitchFamily="18" charset="-127"/>
                <a:cs typeface="Times New Roman" panose="02020603050405020304" pitchFamily="18" charset="0"/>
              </a:rPr>
              <a:t> Lee, </a:t>
            </a:r>
            <a:r>
              <a:rPr lang="en-US" altLang="ko-KR" b="1" dirty="0" err="1">
                <a:latin typeface="Times New Roman" panose="02020603050405020304" pitchFamily="18" charset="0"/>
                <a:ea typeface="새굴림" panose="02030600000101010101" pitchFamily="18" charset="-127"/>
                <a:cs typeface="Times New Roman" panose="02020603050405020304" pitchFamily="18" charset="0"/>
              </a:rPr>
              <a:t>Minki</a:t>
            </a:r>
            <a:r>
              <a:rPr lang="en-US" altLang="ko-KR" b="1" dirty="0">
                <a:latin typeface="Times New Roman" panose="02020603050405020304" pitchFamily="18" charset="0"/>
                <a:ea typeface="새굴림" panose="02030600000101010101" pitchFamily="18" charset="-127"/>
                <a:cs typeface="Times New Roman" panose="02020603050405020304" pitchFamily="18" charset="0"/>
              </a:rPr>
              <a:t> Cho, Roy Margalit, Ori Lahav.</a:t>
            </a:r>
            <a:endParaRPr lang="ko-KR" altLang="en-US" b="1" dirty="0">
              <a:latin typeface="Times New Roman" panose="02020603050405020304" pitchFamily="18" charset="0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b="1" dirty="0">
              <a:latin typeface="Times New Roman" panose="02020603050405020304" pitchFamily="18" charset="0"/>
              <a:ea typeface="새굴림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Putting Weak Memory in Order via a Promising Intermediate Representations">
            <a:extLst>
              <a:ext uri="{FF2B5EF4-FFF2-40B4-BE49-F238E27FC236}">
                <a16:creationId xmlns:a16="http://schemas.microsoft.com/office/drawing/2014/main" id="{CEEA9CC9-34AE-4AD7-B335-9F42F9175DB7}"/>
              </a:ext>
            </a:extLst>
          </p:cNvPr>
          <p:cNvSpPr txBox="1">
            <a:spLocks/>
          </p:cNvSpPr>
          <p:nvPr/>
        </p:nvSpPr>
        <p:spPr>
          <a:xfrm>
            <a:off x="1223947" y="2270637"/>
            <a:ext cx="21849020" cy="3473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defTabSz="759459" hangingPunct="1">
              <a:lnSpc>
                <a:spcPct val="110000"/>
              </a:lnSpc>
              <a:defRPr sz="8096"/>
            </a:pPr>
            <a:r>
              <a:rPr lang="en-US" sz="6500" dirty="0">
                <a:solidFill>
                  <a:srgbClr val="0070C0"/>
                </a:solidFill>
              </a:rPr>
              <a:t>RC11 is good enough w/o performance overhead!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What Can We Do?"/>
          <p:cNvSpPr txBox="1">
            <a:spLocks noGrp="1"/>
          </p:cNvSpPr>
          <p:nvPr>
            <p:ph type="title"/>
          </p:nvPr>
        </p:nvSpPr>
        <p:spPr>
          <a:xfrm>
            <a:off x="1448872" y="-24397"/>
            <a:ext cx="21486256" cy="2286001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rPr lang="en-US" dirty="0"/>
              <a:t>Weak Memory Behaviors</a:t>
            </a:r>
            <a:endParaRPr dirty="0"/>
          </a:p>
        </p:txBody>
      </p:sp>
      <p:sp>
        <p:nvSpPr>
          <p:cNvPr id="193" name="01"/>
          <p:cNvSpPr txBox="1">
            <a:spLocks noGrp="1"/>
          </p:cNvSpPr>
          <p:nvPr>
            <p:ph type="sldNum" sz="quarter" idx="2"/>
          </p:nvPr>
        </p:nvSpPr>
        <p:spPr>
          <a:xfrm>
            <a:off x="12035993" y="13081000"/>
            <a:ext cx="312014" cy="52308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194" name="Can we model ALL relaxed behaviors with in-order executions?…"/>
          <p:cNvSpPr txBox="1">
            <a:spLocks noGrp="1"/>
          </p:cNvSpPr>
          <p:nvPr>
            <p:ph type="body" idx="1"/>
          </p:nvPr>
        </p:nvSpPr>
        <p:spPr>
          <a:xfrm>
            <a:off x="1689100" y="2379494"/>
            <a:ext cx="21005800" cy="1058361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dirty="0"/>
              <a:t>Observable Weak Behaviors due to</a:t>
            </a:r>
          </a:p>
          <a:p>
            <a:pPr lvl="1">
              <a:buChar char="-"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dirty="0"/>
              <a:t>Compiler Optimizations</a:t>
            </a:r>
          </a:p>
          <a:p>
            <a:pPr lvl="1">
              <a:buChar char="-"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dirty="0"/>
              <a:t>Hardware Optimizations</a:t>
            </a:r>
          </a:p>
          <a:p>
            <a:pPr marL="0" indent="0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u="sng" dirty="0"/>
              <a:t>Can be captured by</a:t>
            </a:r>
          </a:p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dirty="0"/>
              <a:t>Four kinds of </a:t>
            </a:r>
            <a:r>
              <a:rPr lang="en-US" altLang="ko-KR" dirty="0" err="1"/>
              <a:t>reorderings</a:t>
            </a:r>
            <a:endParaRPr lang="en-US" altLang="ko-KR" dirty="0"/>
          </a:p>
          <a:p>
            <a:pPr lvl="1">
              <a:buChar char="-"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dirty="0"/>
              <a:t>RR reordering</a:t>
            </a:r>
          </a:p>
          <a:p>
            <a:pPr lvl="1">
              <a:buChar char="-"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dirty="0"/>
              <a:t>WR reordering</a:t>
            </a:r>
          </a:p>
          <a:p>
            <a:pPr lvl="1">
              <a:buChar char="-"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dirty="0"/>
              <a:t>WW reordering</a:t>
            </a:r>
          </a:p>
          <a:p>
            <a:pPr lvl="1">
              <a:buChar char="-"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dirty="0"/>
              <a:t>RW reordering (a.k.a.</a:t>
            </a:r>
            <a:r>
              <a:rPr lang="ko-KR" altLang="en-US" dirty="0"/>
              <a:t> </a:t>
            </a:r>
            <a:r>
              <a:rPr lang="en-US" altLang="ko-KR" dirty="0"/>
              <a:t>Load</a:t>
            </a:r>
            <a:r>
              <a:rPr lang="ko-KR" altLang="en-US" dirty="0"/>
              <a:t> </a:t>
            </a:r>
            <a:r>
              <a:rPr lang="en-US" altLang="ko-KR" dirty="0"/>
              <a:t>Buffering)</a:t>
            </a:r>
          </a:p>
        </p:txBody>
      </p:sp>
    </p:spTree>
    <p:extLst>
      <p:ext uri="{BB962C8B-B14F-4D97-AF65-F5344CB8AC3E}">
        <p14:creationId xmlns:p14="http://schemas.microsoft.com/office/powerpoint/2010/main" val="8422214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What Can We Do?"/>
          <p:cNvSpPr txBox="1">
            <a:spLocks noGrp="1"/>
          </p:cNvSpPr>
          <p:nvPr>
            <p:ph type="title"/>
          </p:nvPr>
        </p:nvSpPr>
        <p:spPr>
          <a:xfrm>
            <a:off x="1448872" y="-24397"/>
            <a:ext cx="21486256" cy="2286001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rPr lang="en-US" dirty="0"/>
              <a:t>Weak Memory Models</a:t>
            </a:r>
            <a:endParaRPr dirty="0"/>
          </a:p>
        </p:txBody>
      </p:sp>
      <p:sp>
        <p:nvSpPr>
          <p:cNvPr id="193" name="01"/>
          <p:cNvSpPr txBox="1">
            <a:spLocks noGrp="1"/>
          </p:cNvSpPr>
          <p:nvPr>
            <p:ph type="sldNum" sz="quarter" idx="2"/>
          </p:nvPr>
        </p:nvSpPr>
        <p:spPr>
          <a:xfrm>
            <a:off x="12035993" y="13081000"/>
            <a:ext cx="312014" cy="52308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Can we model ALL relaxed behaviors with in-order executions?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677069" y="1983175"/>
                <a:ext cx="21005800" cy="11300565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/>
              <a:p>
                <a:pPr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dirty="0"/>
                  <a:t>Out-of-order Models</a:t>
                </a:r>
              </a:p>
              <a:p>
                <a:pPr lvl="1"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dirty="0"/>
                  <a:t>C11, Promising Semantics, …</a:t>
                </a:r>
              </a:p>
              <a:p>
                <a:pPr lvl="1"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dirty="0"/>
                  <a:t>Captures all four </a:t>
                </a:r>
                <a:r>
                  <a:rPr lang="en-US" altLang="ko-KR" dirty="0" err="1"/>
                  <a:t>reorderings</a:t>
                </a:r>
                <a:r>
                  <a:rPr lang="en-US" altLang="ko-KR" dirty="0"/>
                  <a:t>: RR, WR, WW, RW</a:t>
                </a:r>
              </a:p>
              <a:p>
                <a:pPr lvl="1"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u="sng" dirty="0">
                    <a:solidFill>
                      <a:schemeClr val="accent3">
                        <a:lumMod val="75000"/>
                      </a:schemeClr>
                    </a:solidFill>
                  </a:rPr>
                  <a:t>Efficient</a:t>
                </a:r>
                <a:r>
                  <a:rPr lang="en-US" altLang="ko-KR" dirty="0"/>
                  <a:t>: No performance overhead for sound compilation</a:t>
                </a:r>
              </a:p>
              <a:p>
                <a:pPr lvl="1"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u="sng" dirty="0">
                    <a:solidFill>
                      <a:srgbClr val="FF0000"/>
                    </a:solidFill>
                  </a:rPr>
                  <a:t>Complex</a:t>
                </a:r>
                <a:r>
                  <a:rPr lang="en-US" altLang="ko-KR" dirty="0"/>
                  <a:t>: Hard to develop reasoning principles</a:t>
                </a:r>
              </a:p>
              <a:p>
                <a:pPr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dirty="0"/>
                  <a:t>In-order Models</a:t>
                </a:r>
              </a:p>
              <a:p>
                <a:pPr lvl="1"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dirty="0"/>
                  <a:t>RC11, Promising Semantics without Promises, …</a:t>
                </a:r>
              </a:p>
              <a:p>
                <a:pPr lvl="1"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dirty="0"/>
                  <a:t>Captures three </a:t>
                </a:r>
                <a:r>
                  <a:rPr lang="en-US" altLang="ko-KR" dirty="0" err="1"/>
                  <a:t>reorderings</a:t>
                </a:r>
                <a:r>
                  <a:rPr lang="en-US" altLang="ko-KR" dirty="0"/>
                  <a:t> RR, WR, WW but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Not RW</a:t>
                </a:r>
              </a:p>
              <a:p>
                <a:pPr lvl="1"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u="sng" dirty="0">
                    <a:solidFill>
                      <a:schemeClr val="accent3">
                        <a:lumMod val="75000"/>
                      </a:schemeClr>
                    </a:solidFill>
                  </a:rPr>
                  <a:t>Simple</a:t>
                </a:r>
                <a:r>
                  <a:rPr lang="en-US" altLang="ko-KR" dirty="0"/>
                  <a:t>: not so hard to develop reasoning principles (</a:t>
                </a:r>
                <a:r>
                  <a:rPr lang="en-US" altLang="ko-KR" dirty="0" err="1"/>
                  <a:t>eg</a:t>
                </a:r>
                <a:r>
                  <a:rPr lang="en-US" altLang="ko-KR" dirty="0"/>
                  <a:t>, Compass).</a:t>
                </a:r>
                <a:br>
                  <a:rPr lang="en-US" altLang="ko-KR" dirty="0"/>
                </a:br>
                <a:r>
                  <a:rPr lang="en-US" altLang="ko-KR" dirty="0"/>
                  <a:t>             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</a:rPr>
                  <a:t>Also, No out-of-thin-air by construction!</a:t>
                </a:r>
              </a:p>
              <a:p>
                <a:pPr lvl="1">
                  <a:lnSpc>
                    <a:spcPct val="140000"/>
                  </a:lnSpc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u="sng" dirty="0">
                    <a:solidFill>
                      <a:srgbClr val="FF0000"/>
                    </a:solidFill>
                  </a:rPr>
                  <a:t>Inefficient</a:t>
                </a:r>
                <a:r>
                  <a:rPr lang="en-US" altLang="ko-KR" dirty="0"/>
                  <a:t>: Some performance overhead for sound compilation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새굴림" panose="02030600000101010101" pitchFamily="18" charset="-127"/>
                        <a:cs typeface="Times New Roman" panose="02020603050405020304" pitchFamily="18" charset="0"/>
                      </a:rPr>
                      <m:t>⋅</m:t>
                    </m:r>
                  </m:oMath>
                </a14:m>
                <a:r>
                  <a:rPr lang="en-US" altLang="ko-KR" dirty="0"/>
                  <a:t> Invalidates certain </a:t>
                </a:r>
                <a:r>
                  <a:rPr lang="en-US" altLang="ko-KR" u="sng" dirty="0"/>
                  <a:t>load introductions</a:t>
                </a:r>
                <a:r>
                  <a:rPr lang="en-US" altLang="ko-KR" dirty="0"/>
                  <a:t> performed by compilers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새굴림" panose="02030600000101010101" pitchFamily="18" charset="-127"/>
                        <a:cs typeface="Times New Roman" panose="02020603050405020304" pitchFamily="18" charset="0"/>
                      </a:rPr>
                      <m:t>⋅</m:t>
                    </m:r>
                  </m:oMath>
                </a14:m>
                <a:r>
                  <a:rPr lang="en-US" altLang="ko-KR" dirty="0"/>
                  <a:t> Invalidates certain </a:t>
                </a:r>
                <a:r>
                  <a:rPr lang="en-US" altLang="ko-KR" u="sng" dirty="0"/>
                  <a:t>RW </a:t>
                </a:r>
                <a:r>
                  <a:rPr lang="en-US" altLang="ko-KR" u="sng" dirty="0" err="1"/>
                  <a:t>reorderings</a:t>
                </a:r>
                <a:r>
                  <a:rPr lang="en-US" altLang="ko-KR" dirty="0"/>
                  <a:t> performed by HW</a:t>
                </a:r>
              </a:p>
            </p:txBody>
          </p:sp>
        </mc:Choice>
        <mc:Fallback xmlns="">
          <p:sp>
            <p:nvSpPr>
              <p:cNvPr id="194" name="Can we model ALL relaxed behaviors with in-order executions?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77069" y="1983175"/>
                <a:ext cx="21005800" cy="11300565"/>
              </a:xfrm>
              <a:prstGeom prst="rect">
                <a:avLst/>
              </a:prstGeom>
              <a:blipFill>
                <a:blip r:embed="rId3"/>
                <a:stretch>
                  <a:fillRect l="-1335" t="-1996" b="-1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__________…">
            <a:extLst>
              <a:ext uri="{FF2B5EF4-FFF2-40B4-BE49-F238E27FC236}">
                <a16:creationId xmlns:a16="http://schemas.microsoft.com/office/drawing/2014/main" id="{CBA34646-DE6A-4C69-BDD9-EEB950AAC121}"/>
              </a:ext>
            </a:extLst>
          </p:cNvPr>
          <p:cNvSpPr/>
          <p:nvPr/>
        </p:nvSpPr>
        <p:spPr>
          <a:xfrm>
            <a:off x="19845047" y="2222618"/>
            <a:ext cx="3071969" cy="6703875"/>
          </a:xfrm>
          <a:prstGeom prst="roundRect">
            <a:avLst>
              <a:gd name="adj" fmla="val 8373"/>
            </a:avLst>
          </a:prstGeom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 indent="381000" algn="l">
              <a:defRPr sz="3600" b="1" u="sng">
                <a:solidFill>
                  <a:schemeClr val="accent5">
                    <a:lumOff val="-29866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/>
              <a:t>__________</a:t>
            </a:r>
          </a:p>
          <a:p>
            <a:pPr indent="381000" algn="l">
              <a:defRPr sz="3600" b="1" u="sng">
                <a:solidFill>
                  <a:schemeClr val="accent5">
                    <a:lumOff val="-29866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/>
              <a:t>___</a:t>
            </a:r>
          </a:p>
          <a:p>
            <a:pPr indent="381000" algn="l">
              <a:defRPr sz="3600" b="1" u="sng">
                <a:latin typeface="Helvetica Neue"/>
                <a:ea typeface="Helvetica Neue"/>
                <a:cs typeface="Helvetica Neue"/>
                <a:sym typeface="Helvetica Neue"/>
              </a:defRPr>
            </a:pPr>
            <a:endParaRPr dirty="0"/>
          </a:p>
          <a:p>
            <a:pPr indent="381000" algn="l">
              <a:defRPr sz="3600" b="1" u="sng">
                <a:solidFill>
                  <a:schemeClr val="accent1">
                    <a:lumOff val="-13575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/>
              <a:t>______</a:t>
            </a:r>
          </a:p>
          <a:p>
            <a:pPr indent="381000" algn="l">
              <a:defRPr sz="3600" b="1" u="sng">
                <a:solidFill>
                  <a:schemeClr val="accent1">
                    <a:lumOff val="-13575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/>
              <a:t>_________</a:t>
            </a:r>
          </a:p>
          <a:p>
            <a:pPr indent="381000" algn="l">
              <a:defRPr sz="3600" b="1" u="sng">
                <a:solidFill>
                  <a:schemeClr val="accent1">
                    <a:lumOff val="-13575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/>
              <a:t>_____</a:t>
            </a:r>
          </a:p>
          <a:p>
            <a:pPr indent="381000" algn="l">
              <a:defRPr sz="3600" b="1" u="sng">
                <a:solidFill>
                  <a:schemeClr val="accent1">
                    <a:lumOff val="-13575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/>
              <a:t>_______</a:t>
            </a:r>
          </a:p>
          <a:p>
            <a:pPr indent="381000" algn="l">
              <a:defRPr sz="3600" b="1" u="sng">
                <a:latin typeface="Helvetica Neue"/>
                <a:ea typeface="Helvetica Neue"/>
                <a:cs typeface="Helvetica Neue"/>
                <a:sym typeface="Helvetica Neue"/>
              </a:defRPr>
            </a:pPr>
            <a:endParaRPr dirty="0"/>
          </a:p>
          <a:p>
            <a:pPr indent="381000" algn="l">
              <a:defRPr sz="3600" b="1" u="sng">
                <a:solidFill>
                  <a:schemeClr val="accent5">
                    <a:lumOff val="-29866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/>
              <a:t>______</a:t>
            </a:r>
          </a:p>
          <a:p>
            <a:pPr indent="381000" algn="l">
              <a:defRPr sz="3600" b="1" u="sng">
                <a:solidFill>
                  <a:schemeClr val="accent5">
                    <a:lumOff val="-29866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/>
              <a:t>____</a:t>
            </a:r>
          </a:p>
          <a:p>
            <a:pPr indent="381000" algn="l">
              <a:defRPr sz="3600" b="1" u="sng">
                <a:solidFill>
                  <a:schemeClr val="accent5">
                    <a:lumOff val="-29866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/>
              <a:t>________</a:t>
            </a:r>
          </a:p>
        </p:txBody>
      </p:sp>
      <p:sp>
        <p:nvSpPr>
          <p:cNvPr id="6" name="{">
            <a:extLst>
              <a:ext uri="{FF2B5EF4-FFF2-40B4-BE49-F238E27FC236}">
                <a16:creationId xmlns:a16="http://schemas.microsoft.com/office/drawing/2014/main" id="{98FB5093-D71D-42B8-89A8-968858E324F6}"/>
              </a:ext>
            </a:extLst>
          </p:cNvPr>
          <p:cNvSpPr txBox="1"/>
          <p:nvPr/>
        </p:nvSpPr>
        <p:spPr>
          <a:xfrm>
            <a:off x="18916553" y="3901830"/>
            <a:ext cx="875539" cy="2791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0">
                <a:solidFill>
                  <a:schemeClr val="accent1">
                    <a:lumOff val="-13575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{</a:t>
            </a:r>
          </a:p>
        </p:txBody>
      </p:sp>
      <p:sp>
        <p:nvSpPr>
          <p:cNvPr id="7" name="my function">
            <a:extLst>
              <a:ext uri="{FF2B5EF4-FFF2-40B4-BE49-F238E27FC236}">
                <a16:creationId xmlns:a16="http://schemas.microsoft.com/office/drawing/2014/main" id="{11EC5C35-09E4-4ECB-BA2A-E8643DE40B13}"/>
              </a:ext>
            </a:extLst>
          </p:cNvPr>
          <p:cNvSpPr txBox="1"/>
          <p:nvPr/>
        </p:nvSpPr>
        <p:spPr>
          <a:xfrm>
            <a:off x="15659752" y="5164296"/>
            <a:ext cx="3422601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rPr dirty="0"/>
              <a:t>my function</a:t>
            </a:r>
          </a:p>
        </p:txBody>
      </p:sp>
      <p:sp>
        <p:nvSpPr>
          <p:cNvPr id="8" name="{">
            <a:extLst>
              <a:ext uri="{FF2B5EF4-FFF2-40B4-BE49-F238E27FC236}">
                <a16:creationId xmlns:a16="http://schemas.microsoft.com/office/drawing/2014/main" id="{9A25B2FE-1D41-48B7-97E6-D15BE0C0243C}"/>
              </a:ext>
            </a:extLst>
          </p:cNvPr>
          <p:cNvSpPr txBox="1"/>
          <p:nvPr/>
        </p:nvSpPr>
        <p:spPr>
          <a:xfrm>
            <a:off x="19128135" y="6771515"/>
            <a:ext cx="706375" cy="2196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0">
                <a:solidFill>
                  <a:schemeClr val="accent5">
                    <a:lumOff val="-29866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{</a:t>
            </a:r>
          </a:p>
        </p:txBody>
      </p:sp>
      <p:sp>
        <p:nvSpPr>
          <p:cNvPr id="9" name="unknown…">
            <a:extLst>
              <a:ext uri="{FF2B5EF4-FFF2-40B4-BE49-F238E27FC236}">
                <a16:creationId xmlns:a16="http://schemas.microsoft.com/office/drawing/2014/main" id="{88C07582-2330-4FD9-95FF-FFE7179ECBD7}"/>
              </a:ext>
            </a:extLst>
          </p:cNvPr>
          <p:cNvSpPr txBox="1"/>
          <p:nvPr/>
        </p:nvSpPr>
        <p:spPr>
          <a:xfrm>
            <a:off x="15461937" y="7326770"/>
            <a:ext cx="3818231" cy="1557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chemeClr val="accent5">
                    <a:lumOff val="-29866"/>
                  </a:schemeClr>
                </a:solidFill>
              </a:defRPr>
            </a:pPr>
            <a:r>
              <a:t>unknown</a:t>
            </a:r>
          </a:p>
          <a:p>
            <a:pPr>
              <a:defRPr>
                <a:solidFill>
                  <a:schemeClr val="accent5">
                    <a:lumOff val="-29866"/>
                  </a:schemeClr>
                </a:solidFill>
              </a:defRPr>
            </a:pPr>
            <a:r>
              <a:t>context code</a:t>
            </a:r>
          </a:p>
        </p:txBody>
      </p:sp>
      <p:pic>
        <p:nvPicPr>
          <p:cNvPr id="10" name="Connection Line" descr="Connection Line">
            <a:extLst>
              <a:ext uri="{FF2B5EF4-FFF2-40B4-BE49-F238E27FC236}">
                <a16:creationId xmlns:a16="http://schemas.microsoft.com/office/drawing/2014/main" id="{EB820547-A8B5-41AC-A544-3489330E8453}"/>
              </a:ext>
            </a:extLst>
          </p:cNvPr>
          <p:cNvPicPr>
            <a:picLocks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1259843" y="5014381"/>
            <a:ext cx="694185" cy="3012297"/>
          </a:xfrm>
          <a:prstGeom prst="rect">
            <a:avLst/>
          </a:prstGeom>
        </p:spPr>
      </p:pic>
      <p:sp>
        <p:nvSpPr>
          <p:cNvPr id="11" name="out-of-order…">
            <a:extLst>
              <a:ext uri="{FF2B5EF4-FFF2-40B4-BE49-F238E27FC236}">
                <a16:creationId xmlns:a16="http://schemas.microsoft.com/office/drawing/2014/main" id="{2B31FDDB-6224-424E-A6E3-C81ACC5CD8C1}"/>
              </a:ext>
            </a:extLst>
          </p:cNvPr>
          <p:cNvSpPr/>
          <p:nvPr/>
        </p:nvSpPr>
        <p:spPr>
          <a:xfrm>
            <a:off x="18281552" y="9648121"/>
            <a:ext cx="4887101" cy="2699621"/>
          </a:xfrm>
          <a:prstGeom prst="wedgeEllipseCallout">
            <a:avLst>
              <a:gd name="adj1" fmla="val 16568"/>
              <a:gd name="adj2" fmla="val -120098"/>
            </a:avLst>
          </a:prstGeom>
          <a:solidFill>
            <a:schemeClr val="accent5">
              <a:lumOff val="-2986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out-of-order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execution</a:t>
            </a:r>
          </a:p>
        </p:txBody>
      </p:sp>
      <p:sp>
        <p:nvSpPr>
          <p:cNvPr id="12" name="out-of-order…">
            <a:extLst>
              <a:ext uri="{FF2B5EF4-FFF2-40B4-BE49-F238E27FC236}">
                <a16:creationId xmlns:a16="http://schemas.microsoft.com/office/drawing/2014/main" id="{5E157538-E673-4161-A43E-D1455260B135}"/>
              </a:ext>
            </a:extLst>
          </p:cNvPr>
          <p:cNvSpPr/>
          <p:nvPr/>
        </p:nvSpPr>
        <p:spPr>
          <a:xfrm>
            <a:off x="8865672" y="1891046"/>
            <a:ext cx="5629261" cy="1550302"/>
          </a:xfrm>
          <a:prstGeom prst="wedgeEllipseCallout">
            <a:avLst>
              <a:gd name="adj1" fmla="val -73801"/>
              <a:gd name="adj2" fmla="val 28971"/>
            </a:avLst>
          </a:prstGeom>
          <a:solidFill>
            <a:schemeClr val="accent3">
              <a:lumMod val="7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 algn="l">
              <a:defRPr>
                <a:solidFill>
                  <a:srgbClr val="FFFFFF"/>
                </a:solidFill>
              </a:defRPr>
            </a:pPr>
            <a:r>
              <a:rPr lang="en-US" sz="3700" dirty="0"/>
              <a:t>View: RR,WR,WW</a:t>
            </a:r>
            <a:br>
              <a:rPr lang="en-US" sz="3700" dirty="0"/>
            </a:br>
            <a:r>
              <a:rPr lang="en-US" sz="3700" dirty="0"/>
              <a:t>Promise: RW</a:t>
            </a:r>
            <a:endParaRPr sz="3700" dirty="0"/>
          </a:p>
        </p:txBody>
      </p:sp>
    </p:spTree>
    <p:extLst>
      <p:ext uri="{BB962C8B-B14F-4D97-AF65-F5344CB8AC3E}">
        <p14:creationId xmlns:p14="http://schemas.microsoft.com/office/powerpoint/2010/main" val="374960310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dvAuto="0"/>
      <p:bldP spid="6" grpId="0" animBg="1" advAuto="0"/>
      <p:bldP spid="7" grpId="0" animBg="1" advAuto="0"/>
      <p:bldP spid="8" grpId="0" animBg="1" advAuto="0"/>
      <p:bldP spid="9" grpId="0" animBg="1" advAuto="0"/>
      <p:bldP spid="10" grpId="0" animBg="1" advAuto="0"/>
      <p:bldP spid="11" grpId="0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What Can We Do?"/>
          <p:cNvSpPr txBox="1">
            <a:spLocks noGrp="1"/>
          </p:cNvSpPr>
          <p:nvPr>
            <p:ph type="title"/>
          </p:nvPr>
        </p:nvSpPr>
        <p:spPr>
          <a:xfrm>
            <a:off x="1448872" y="-24397"/>
            <a:ext cx="21486256" cy="2286001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rPr lang="en-US"/>
              <a:t>Positive Results </a:t>
            </a:r>
            <a:r>
              <a:rPr lang="en-US" dirty="0"/>
              <a:t>[PLDI’23]</a:t>
            </a:r>
            <a:endParaRPr dirty="0"/>
          </a:p>
        </p:txBody>
      </p:sp>
      <p:sp>
        <p:nvSpPr>
          <p:cNvPr id="193" name="01"/>
          <p:cNvSpPr txBox="1">
            <a:spLocks noGrp="1"/>
          </p:cNvSpPr>
          <p:nvPr>
            <p:ph type="sldNum" sz="quarter" idx="2"/>
          </p:nvPr>
        </p:nvSpPr>
        <p:spPr>
          <a:xfrm>
            <a:off x="12035993" y="13081000"/>
            <a:ext cx="312014" cy="52308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Can we model ALL relaxed behaviors with in-order executions?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689100" y="2006929"/>
                <a:ext cx="21005800" cy="1027928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dirty="0"/>
                  <a:t>Simple &amp; Efficient In-order Model</a:t>
                </a:r>
                <a:endParaRPr lang="en-US" altLang="ko-KR" sz="3500" dirty="0"/>
              </a:p>
              <a:p>
                <a:pPr marL="635000" lvl="1" indent="0">
                  <a:buNone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br>
                  <a:rPr lang="en-US" altLang="ko-KR" dirty="0"/>
                </a:br>
                <a:r>
                  <a:rPr lang="en-US" altLang="ko-KR" dirty="0"/>
                  <a:t>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새굴림" panose="02030600000101010101" pitchFamily="18" charset="-127"/>
                        <a:cs typeface="Times New Roman" panose="02020603050405020304" pitchFamily="18" charset="0"/>
                      </a:rPr>
                      <m:t>⊇</m:t>
                    </m:r>
                  </m:oMath>
                </a14:m>
                <a:r>
                  <a:rPr lang="en-US" altLang="ko-KR" dirty="0"/>
                  <a:t> </a:t>
                </a:r>
                <a:br>
                  <a:rPr lang="en-US" altLang="ko-KR" dirty="0"/>
                </a:br>
                <a:r>
                  <a:rPr lang="en-US" altLang="ko-KR" dirty="0"/>
                  <a:t>    vRC11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새굴림" panose="02030600000101010101" pitchFamily="18" charset="-127"/>
                        <a:cs typeface="Times New Roman" panose="02020603050405020304" pitchFamily="18" charset="0"/>
                      </a:rPr>
                      <m:t>≝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새굴림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Promising Semantics without Promises</a:t>
                </a:r>
                <a:br>
                  <a:rPr lang="en-US" altLang="ko-KR" dirty="0"/>
                </a:br>
                <a:r>
                  <a:rPr lang="en-US" altLang="ko-KR" dirty="0"/>
                  <a:t>                    + Catch-fire on racy non-atomic accesses</a:t>
                </a:r>
              </a:p>
              <a:p>
                <a:pPr lvl="1"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u="sng" dirty="0">
                    <a:solidFill>
                      <a:schemeClr val="accent3">
                        <a:lumMod val="75000"/>
                      </a:schemeClr>
                    </a:solidFill>
                  </a:rPr>
                  <a:t>Simple</a:t>
                </a:r>
                <a:r>
                  <a:rPr lang="en-US" altLang="ko-KR" dirty="0"/>
                  <a:t>: not so hard to develop reasoning principles</a:t>
                </a:r>
              </a:p>
              <a:p>
                <a:pPr lvl="1"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u="sng" dirty="0">
                    <a:solidFill>
                      <a:schemeClr val="accent3">
                        <a:lumMod val="75000"/>
                      </a:schemeClr>
                    </a:solidFill>
                  </a:rPr>
                  <a:t>Efficient</a:t>
                </a:r>
                <a:r>
                  <a:rPr lang="en-US" altLang="ko-KR" dirty="0"/>
                  <a:t>: No performance overhead for sound compilation</a:t>
                </a:r>
              </a:p>
              <a:p>
                <a:pPr lvl="1"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dirty="0"/>
                  <a:t>All formalized in Coq</a:t>
                </a:r>
              </a:p>
              <a:p>
                <a:pPr lvl="1"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dirty="0"/>
                  <a:t>Support SC fence but not SC reads/writes yet</a:t>
                </a:r>
              </a:p>
            </p:txBody>
          </p:sp>
        </mc:Choice>
        <mc:Fallback xmlns="">
          <p:sp>
            <p:nvSpPr>
              <p:cNvPr id="194" name="Can we model ALL relaxed behaviors with in-order executions?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89100" y="2006929"/>
                <a:ext cx="21005800" cy="10279287"/>
              </a:xfrm>
              <a:prstGeom prst="rect">
                <a:avLst/>
              </a:prstGeom>
              <a:blipFill>
                <a:blip r:embed="rId3"/>
                <a:stretch>
                  <a:fillRect l="-17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Rounded Rectangle Rounded rectangle" descr="Rounded Rectangle Rounded rectangle">
            <a:extLst>
              <a:ext uri="{FF2B5EF4-FFF2-40B4-BE49-F238E27FC236}">
                <a16:creationId xmlns:a16="http://schemas.microsoft.com/office/drawing/2014/main" id="{000AF01D-2A22-41E5-919F-AFE24F4694CD}"/>
              </a:ext>
            </a:extLst>
          </p:cNvPr>
          <p:cNvPicPr>
            <a:picLocks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812454" y="8502732"/>
            <a:ext cx="16057437" cy="926276"/>
          </a:xfrm>
          <a:prstGeom prst="rect">
            <a:avLst/>
          </a:prstGeom>
        </p:spPr>
      </p:pic>
      <p:sp>
        <p:nvSpPr>
          <p:cNvPr id="6" name="out-of-order…">
            <a:extLst>
              <a:ext uri="{FF2B5EF4-FFF2-40B4-BE49-F238E27FC236}">
                <a16:creationId xmlns:a16="http://schemas.microsoft.com/office/drawing/2014/main" id="{792B2A30-7067-4E18-9C90-B573E9F0AC4F}"/>
              </a:ext>
            </a:extLst>
          </p:cNvPr>
          <p:cNvSpPr/>
          <p:nvPr/>
        </p:nvSpPr>
        <p:spPr>
          <a:xfrm>
            <a:off x="9414933" y="9989020"/>
            <a:ext cx="12574841" cy="926276"/>
          </a:xfrm>
          <a:prstGeom prst="wedgeEllipseCallout">
            <a:avLst>
              <a:gd name="adj1" fmla="val -47128"/>
              <a:gd name="adj2" fmla="val -108265"/>
            </a:avLst>
          </a:prstGeom>
          <a:solidFill>
            <a:schemeClr val="accent5">
              <a:lumOff val="-2986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dirty="0"/>
              <a:t>Lifted the performance overhead </a:t>
            </a:r>
            <a:endParaRPr dirty="0"/>
          </a:p>
        </p:txBody>
      </p:sp>
      <p:sp>
        <p:nvSpPr>
          <p:cNvPr id="7" name="Can we model ALL relaxed behaviors with in-order executions?…">
            <a:extLst>
              <a:ext uri="{FF2B5EF4-FFF2-40B4-BE49-F238E27FC236}">
                <a16:creationId xmlns:a16="http://schemas.microsoft.com/office/drawing/2014/main" id="{6DA8B510-A818-4698-BD10-F6125238A788}"/>
              </a:ext>
            </a:extLst>
          </p:cNvPr>
          <p:cNvSpPr txBox="1">
            <a:spLocks/>
          </p:cNvSpPr>
          <p:nvPr/>
        </p:nvSpPr>
        <p:spPr>
          <a:xfrm>
            <a:off x="1689100" y="3629890"/>
            <a:ext cx="3661833" cy="92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lvl="1" hangingPunct="1">
              <a:buFontTx/>
              <a:buChar char="-"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dirty="0"/>
              <a:t>RC11</a:t>
            </a:r>
          </a:p>
        </p:txBody>
      </p:sp>
    </p:spTree>
    <p:extLst>
      <p:ext uri="{BB962C8B-B14F-4D97-AF65-F5344CB8AC3E}">
        <p14:creationId xmlns:p14="http://schemas.microsoft.com/office/powerpoint/2010/main" val="3450374315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01"/>
          <p:cNvSpPr txBox="1">
            <a:spLocks noGrp="1"/>
          </p:cNvSpPr>
          <p:nvPr>
            <p:ph type="sldNum" sz="quarter" idx="2"/>
          </p:nvPr>
        </p:nvSpPr>
        <p:spPr>
          <a:xfrm>
            <a:off x="12035993" y="13081000"/>
            <a:ext cx="312014" cy="52308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194" name="Can we model ALL relaxed behaviors with in-order executions?…"/>
          <p:cNvSpPr txBox="1">
            <a:spLocks noGrp="1"/>
          </p:cNvSpPr>
          <p:nvPr>
            <p:ph type="body" idx="1"/>
          </p:nvPr>
        </p:nvSpPr>
        <p:spPr>
          <a:xfrm>
            <a:off x="1689100" y="1120710"/>
            <a:ext cx="21005800" cy="1058361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sz="7000" dirty="0"/>
              <a:t>Problems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17692443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Results: All Formalized in Coq"/>
          <p:cNvSpPr txBox="1">
            <a:spLocks noGrp="1"/>
          </p:cNvSpPr>
          <p:nvPr>
            <p:ph type="title"/>
          </p:nvPr>
        </p:nvSpPr>
        <p:spPr>
          <a:xfrm>
            <a:off x="1448872" y="-24397"/>
            <a:ext cx="21486256" cy="2286001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rPr lang="en-US" dirty="0"/>
              <a:t>Problems with (v)RC11</a:t>
            </a:r>
            <a:endParaRPr dirty="0"/>
          </a:p>
        </p:txBody>
      </p:sp>
      <p:sp>
        <p:nvSpPr>
          <p:cNvPr id="454" name="Hardware models…"/>
          <p:cNvSpPr/>
          <p:nvPr/>
        </p:nvSpPr>
        <p:spPr>
          <a:xfrm>
            <a:off x="7779835" y="9410987"/>
            <a:ext cx="9231313" cy="2094791"/>
          </a:xfrm>
          <a:prstGeom prst="roundRect">
            <a:avLst>
              <a:gd name="adj" fmla="val 15000"/>
            </a:avLst>
          </a:prstGeom>
          <a:solidFill>
            <a:srgbClr val="F1B6B0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r>
              <a:rPr lang="en-US" dirty="0">
                <a:solidFill>
                  <a:srgbClr val="FF0000"/>
                </a:solidFill>
              </a:rPr>
              <a:t>Out-of-order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457" name="Non-atomic:…"/>
          <p:cNvSpPr/>
          <p:nvPr/>
        </p:nvSpPr>
        <p:spPr>
          <a:xfrm>
            <a:off x="7754435" y="4991529"/>
            <a:ext cx="4639073" cy="20947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extrusionOk="0">
                <a:moveTo>
                  <a:pt x="2238" y="0"/>
                </a:moveTo>
                <a:cubicBezTo>
                  <a:pt x="1910" y="0"/>
                  <a:pt x="1645" y="-2"/>
                  <a:pt x="1432" y="28"/>
                </a:cubicBezTo>
                <a:cubicBezTo>
                  <a:pt x="1219" y="59"/>
                  <a:pt x="1055" y="120"/>
                  <a:pt x="924" y="241"/>
                </a:cubicBezTo>
                <a:cubicBezTo>
                  <a:pt x="735" y="394"/>
                  <a:pt x="566" y="637"/>
                  <a:pt x="427" y="945"/>
                </a:cubicBezTo>
                <a:cubicBezTo>
                  <a:pt x="288" y="1253"/>
                  <a:pt x="180" y="1627"/>
                  <a:pt x="111" y="2046"/>
                </a:cubicBezTo>
                <a:cubicBezTo>
                  <a:pt x="56" y="2336"/>
                  <a:pt x="28" y="2699"/>
                  <a:pt x="15" y="3171"/>
                </a:cubicBezTo>
                <a:cubicBezTo>
                  <a:pt x="1" y="3643"/>
                  <a:pt x="0" y="4224"/>
                  <a:pt x="0" y="4951"/>
                </a:cubicBezTo>
                <a:lnTo>
                  <a:pt x="0" y="16645"/>
                </a:lnTo>
                <a:cubicBezTo>
                  <a:pt x="0" y="17372"/>
                  <a:pt x="1" y="17953"/>
                  <a:pt x="15" y="18425"/>
                </a:cubicBezTo>
                <a:cubicBezTo>
                  <a:pt x="28" y="18897"/>
                  <a:pt x="56" y="19260"/>
                  <a:pt x="111" y="19550"/>
                </a:cubicBezTo>
                <a:cubicBezTo>
                  <a:pt x="180" y="19969"/>
                  <a:pt x="288" y="20343"/>
                  <a:pt x="427" y="20651"/>
                </a:cubicBezTo>
                <a:cubicBezTo>
                  <a:pt x="566" y="20959"/>
                  <a:pt x="735" y="21202"/>
                  <a:pt x="924" y="21355"/>
                </a:cubicBezTo>
                <a:cubicBezTo>
                  <a:pt x="1055" y="21476"/>
                  <a:pt x="1219" y="21537"/>
                  <a:pt x="1432" y="21568"/>
                </a:cubicBezTo>
                <a:cubicBezTo>
                  <a:pt x="1645" y="21598"/>
                  <a:pt x="1910" y="21596"/>
                  <a:pt x="2238" y="21596"/>
                </a:cubicBezTo>
                <a:lnTo>
                  <a:pt x="21600" y="21596"/>
                </a:lnTo>
                <a:lnTo>
                  <a:pt x="21600" y="0"/>
                </a:lnTo>
                <a:lnTo>
                  <a:pt x="2238" y="0"/>
                </a:lnTo>
                <a:close/>
              </a:path>
            </a:pathLst>
          </a:custGeom>
          <a:solidFill>
            <a:srgbClr val="B6DDE6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r>
              <a:rPr dirty="0"/>
              <a:t>Non-atomic:</a:t>
            </a:r>
          </a:p>
          <a:p>
            <a:r>
              <a:rPr dirty="0">
                <a:solidFill>
                  <a:srgbClr val="0070C0"/>
                </a:solidFill>
              </a:rPr>
              <a:t>In-order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en-US" altLang="ko-KR" sz="3000" dirty="0">
                <a:solidFill>
                  <a:srgbClr val="0070C0"/>
                </a:solidFill>
              </a:rPr>
              <a:t>(Race-Free)</a:t>
            </a:r>
            <a:endParaRPr sz="3000" dirty="0">
              <a:solidFill>
                <a:srgbClr val="0070C0"/>
              </a:solidFill>
            </a:endParaRPr>
          </a:p>
        </p:txBody>
      </p:sp>
      <p:sp>
        <p:nvSpPr>
          <p:cNvPr id="458" name="Atomic:…"/>
          <p:cNvSpPr/>
          <p:nvPr/>
        </p:nvSpPr>
        <p:spPr>
          <a:xfrm>
            <a:off x="12541365" y="4991529"/>
            <a:ext cx="4639072" cy="20947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extrusionOk="0">
                <a:moveTo>
                  <a:pt x="0" y="0"/>
                </a:moveTo>
                <a:lnTo>
                  <a:pt x="0" y="21596"/>
                </a:lnTo>
                <a:lnTo>
                  <a:pt x="19355" y="21596"/>
                </a:lnTo>
                <a:cubicBezTo>
                  <a:pt x="19684" y="21596"/>
                  <a:pt x="19949" y="21598"/>
                  <a:pt x="20163" y="21568"/>
                </a:cubicBezTo>
                <a:cubicBezTo>
                  <a:pt x="20377" y="21537"/>
                  <a:pt x="20541" y="21476"/>
                  <a:pt x="20673" y="21355"/>
                </a:cubicBezTo>
                <a:cubicBezTo>
                  <a:pt x="20863" y="21202"/>
                  <a:pt x="21032" y="20959"/>
                  <a:pt x="21172" y="20651"/>
                </a:cubicBezTo>
                <a:cubicBezTo>
                  <a:pt x="21311" y="20343"/>
                  <a:pt x="21420" y="19969"/>
                  <a:pt x="21489" y="19550"/>
                </a:cubicBezTo>
                <a:cubicBezTo>
                  <a:pt x="21544" y="19260"/>
                  <a:pt x="21571" y="18897"/>
                  <a:pt x="21585" y="18425"/>
                </a:cubicBezTo>
                <a:cubicBezTo>
                  <a:pt x="21599" y="17953"/>
                  <a:pt x="21600" y="17372"/>
                  <a:pt x="21600" y="16645"/>
                </a:cubicBezTo>
                <a:lnTo>
                  <a:pt x="21600" y="4951"/>
                </a:lnTo>
                <a:cubicBezTo>
                  <a:pt x="21600" y="4224"/>
                  <a:pt x="21599" y="3643"/>
                  <a:pt x="21585" y="3171"/>
                </a:cubicBezTo>
                <a:cubicBezTo>
                  <a:pt x="21571" y="2699"/>
                  <a:pt x="21544" y="2336"/>
                  <a:pt x="21489" y="2046"/>
                </a:cubicBezTo>
                <a:cubicBezTo>
                  <a:pt x="21420" y="1627"/>
                  <a:pt x="21311" y="1253"/>
                  <a:pt x="21172" y="945"/>
                </a:cubicBezTo>
                <a:cubicBezTo>
                  <a:pt x="21032" y="637"/>
                  <a:pt x="20863" y="394"/>
                  <a:pt x="20673" y="241"/>
                </a:cubicBezTo>
                <a:cubicBezTo>
                  <a:pt x="20541" y="120"/>
                  <a:pt x="20377" y="59"/>
                  <a:pt x="20163" y="28"/>
                </a:cubicBezTo>
                <a:cubicBezTo>
                  <a:pt x="19949" y="-2"/>
                  <a:pt x="19684" y="0"/>
                  <a:pt x="19355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B6DDE6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r>
              <a:rPr dirty="0"/>
              <a:t>Atomic:</a:t>
            </a:r>
          </a:p>
          <a:p>
            <a:r>
              <a:rPr dirty="0">
                <a:solidFill>
                  <a:srgbClr val="0070C0"/>
                </a:solidFill>
              </a:rPr>
              <a:t>In-order</a:t>
            </a:r>
          </a:p>
        </p:txBody>
      </p:sp>
      <p:sp>
        <p:nvSpPr>
          <p:cNvPr id="460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sp>
        <p:nvSpPr>
          <p:cNvPr id="466" name="Source model"/>
          <p:cNvSpPr txBox="1"/>
          <p:nvPr/>
        </p:nvSpPr>
        <p:spPr>
          <a:xfrm>
            <a:off x="11340906" y="3853225"/>
            <a:ext cx="2731517" cy="948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US" sz="5500" dirty="0"/>
              <a:t>(v)RC11</a:t>
            </a:r>
            <a:endParaRPr sz="5500" dirty="0"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CA87B008-082F-4249-B6CD-62D042297E82}"/>
              </a:ext>
            </a:extLst>
          </p:cNvPr>
          <p:cNvSpPr/>
          <p:nvPr/>
        </p:nvSpPr>
        <p:spPr>
          <a:xfrm>
            <a:off x="10212795" y="7099869"/>
            <a:ext cx="0" cy="2311118"/>
          </a:xfrm>
          <a:prstGeom prst="line">
            <a:avLst/>
          </a:prstGeom>
          <a:ln w="2032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" name="Source model">
            <a:extLst>
              <a:ext uri="{FF2B5EF4-FFF2-40B4-BE49-F238E27FC236}">
                <a16:creationId xmlns:a16="http://schemas.microsoft.com/office/drawing/2014/main" id="{DAF54A9B-E490-4841-BAEE-C6B028E8FEC3}"/>
              </a:ext>
            </a:extLst>
          </p:cNvPr>
          <p:cNvSpPr txBox="1"/>
          <p:nvPr/>
        </p:nvSpPr>
        <p:spPr>
          <a:xfrm>
            <a:off x="11977909" y="8569731"/>
            <a:ext cx="1126912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/>
              <a:t>HW</a:t>
            </a:r>
            <a:endParaRPr dirty="0"/>
          </a:p>
        </p:txBody>
      </p:sp>
      <p:sp>
        <p:nvSpPr>
          <p:cNvPr id="32" name="Source model">
            <a:extLst>
              <a:ext uri="{FF2B5EF4-FFF2-40B4-BE49-F238E27FC236}">
                <a16:creationId xmlns:a16="http://schemas.microsoft.com/office/drawing/2014/main" id="{CB68098A-1A96-42B7-9607-9D1BD2F06074}"/>
              </a:ext>
            </a:extLst>
          </p:cNvPr>
          <p:cNvSpPr txBox="1"/>
          <p:nvPr/>
        </p:nvSpPr>
        <p:spPr>
          <a:xfrm>
            <a:off x="2568869" y="3811719"/>
            <a:ext cx="3590727" cy="1179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 lang="en-US" sz="3500" dirty="0">
                <a:solidFill>
                  <a:schemeClr val="accent3">
                    <a:lumMod val="75000"/>
                  </a:schemeClr>
                </a:solidFill>
              </a:rPr>
              <a:t>RR,WR,WW,RW</a:t>
            </a:r>
            <a:r>
              <a:rPr lang="en-US" sz="3500" dirty="0">
                <a:solidFill>
                  <a:srgbClr val="0070C0"/>
                </a:solidFill>
              </a:rPr>
              <a:t> </a:t>
            </a:r>
          </a:p>
          <a:p>
            <a:pPr algn="l"/>
            <a:r>
              <a:rPr lang="en-US" sz="3500" dirty="0">
                <a:solidFill>
                  <a:srgbClr val="FF0000"/>
                </a:solidFill>
              </a:rPr>
              <a:t>Load introduction</a:t>
            </a:r>
            <a:endParaRPr sz="3500" dirty="0">
              <a:solidFill>
                <a:srgbClr val="FF0000"/>
              </a:solidFill>
            </a:endParaRPr>
          </a:p>
        </p:txBody>
      </p:sp>
      <p:sp>
        <p:nvSpPr>
          <p:cNvPr id="33" name="Dingbat X">
            <a:extLst>
              <a:ext uri="{FF2B5EF4-FFF2-40B4-BE49-F238E27FC236}">
                <a16:creationId xmlns:a16="http://schemas.microsoft.com/office/drawing/2014/main" id="{52D6D38B-9C20-4D99-AEBB-C72C388CD759}"/>
              </a:ext>
            </a:extLst>
          </p:cNvPr>
          <p:cNvSpPr/>
          <p:nvPr/>
        </p:nvSpPr>
        <p:spPr>
          <a:xfrm>
            <a:off x="18959025" y="4432723"/>
            <a:ext cx="398958" cy="4355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4" h="21548" extrusionOk="0">
                <a:moveTo>
                  <a:pt x="18655" y="0"/>
                </a:moveTo>
                <a:cubicBezTo>
                  <a:pt x="18494" y="5"/>
                  <a:pt x="18333" y="109"/>
                  <a:pt x="18066" y="314"/>
                </a:cubicBezTo>
                <a:cubicBezTo>
                  <a:pt x="15478" y="2289"/>
                  <a:pt x="13027" y="4381"/>
                  <a:pt x="10727" y="6600"/>
                </a:cubicBezTo>
                <a:cubicBezTo>
                  <a:pt x="10587" y="6735"/>
                  <a:pt x="10434" y="6862"/>
                  <a:pt x="10258" y="7020"/>
                </a:cubicBezTo>
                <a:cubicBezTo>
                  <a:pt x="10102" y="6832"/>
                  <a:pt x="9974" y="6685"/>
                  <a:pt x="9856" y="6533"/>
                </a:cubicBezTo>
                <a:cubicBezTo>
                  <a:pt x="8908" y="5315"/>
                  <a:pt x="7971" y="4091"/>
                  <a:pt x="7009" y="2882"/>
                </a:cubicBezTo>
                <a:cubicBezTo>
                  <a:pt x="6625" y="2399"/>
                  <a:pt x="6178" y="1951"/>
                  <a:pt x="5769" y="1483"/>
                </a:cubicBezTo>
                <a:cubicBezTo>
                  <a:pt x="5573" y="1260"/>
                  <a:pt x="5327" y="1254"/>
                  <a:pt x="5044" y="1314"/>
                </a:cubicBezTo>
                <a:cubicBezTo>
                  <a:pt x="4759" y="1375"/>
                  <a:pt x="4593" y="1540"/>
                  <a:pt x="4590" y="1770"/>
                </a:cubicBezTo>
                <a:cubicBezTo>
                  <a:pt x="4583" y="2129"/>
                  <a:pt x="4349" y="2291"/>
                  <a:pt x="3989" y="2389"/>
                </a:cubicBezTo>
                <a:cubicBezTo>
                  <a:pt x="3741" y="2232"/>
                  <a:pt x="3498" y="2079"/>
                  <a:pt x="3221" y="1904"/>
                </a:cubicBezTo>
                <a:cubicBezTo>
                  <a:pt x="2922" y="2176"/>
                  <a:pt x="2660" y="2427"/>
                  <a:pt x="2382" y="2665"/>
                </a:cubicBezTo>
                <a:cubicBezTo>
                  <a:pt x="2135" y="2876"/>
                  <a:pt x="2125" y="3090"/>
                  <a:pt x="2231" y="3371"/>
                </a:cubicBezTo>
                <a:cubicBezTo>
                  <a:pt x="3179" y="5877"/>
                  <a:pt x="4394" y="8283"/>
                  <a:pt x="5880" y="10593"/>
                </a:cubicBezTo>
                <a:cubicBezTo>
                  <a:pt x="5956" y="10712"/>
                  <a:pt x="6024" y="10835"/>
                  <a:pt x="6094" y="10951"/>
                </a:cubicBezTo>
                <a:cubicBezTo>
                  <a:pt x="4046" y="12991"/>
                  <a:pt x="2019" y="15012"/>
                  <a:pt x="0" y="17024"/>
                </a:cubicBezTo>
                <a:cubicBezTo>
                  <a:pt x="166" y="17359"/>
                  <a:pt x="297" y="17644"/>
                  <a:pt x="450" y="17921"/>
                </a:cubicBezTo>
                <a:cubicBezTo>
                  <a:pt x="559" y="18117"/>
                  <a:pt x="570" y="18299"/>
                  <a:pt x="443" y="18491"/>
                </a:cubicBezTo>
                <a:cubicBezTo>
                  <a:pt x="355" y="18625"/>
                  <a:pt x="277" y="18763"/>
                  <a:pt x="214" y="18906"/>
                </a:cubicBezTo>
                <a:cubicBezTo>
                  <a:pt x="179" y="18986"/>
                  <a:pt x="139" y="19096"/>
                  <a:pt x="175" y="19164"/>
                </a:cubicBezTo>
                <a:cubicBezTo>
                  <a:pt x="462" y="19717"/>
                  <a:pt x="876" y="20186"/>
                  <a:pt x="1406" y="20550"/>
                </a:cubicBezTo>
                <a:cubicBezTo>
                  <a:pt x="1668" y="20457"/>
                  <a:pt x="1862" y="20370"/>
                  <a:pt x="2068" y="20319"/>
                </a:cubicBezTo>
                <a:cubicBezTo>
                  <a:pt x="2305" y="20259"/>
                  <a:pt x="2506" y="20384"/>
                  <a:pt x="2432" y="20567"/>
                </a:cubicBezTo>
                <a:cubicBezTo>
                  <a:pt x="2271" y="20967"/>
                  <a:pt x="2606" y="21165"/>
                  <a:pt x="2838" y="21403"/>
                </a:cubicBezTo>
                <a:cubicBezTo>
                  <a:pt x="3027" y="21596"/>
                  <a:pt x="3335" y="21593"/>
                  <a:pt x="3548" y="21414"/>
                </a:cubicBezTo>
                <a:cubicBezTo>
                  <a:pt x="3624" y="21350"/>
                  <a:pt x="3679" y="21268"/>
                  <a:pt x="3745" y="21195"/>
                </a:cubicBezTo>
                <a:cubicBezTo>
                  <a:pt x="5406" y="19353"/>
                  <a:pt x="7068" y="17510"/>
                  <a:pt x="8732" y="15669"/>
                </a:cubicBezTo>
                <a:cubicBezTo>
                  <a:pt x="8850" y="15538"/>
                  <a:pt x="8982" y="15417"/>
                  <a:pt x="9151" y="15248"/>
                </a:cubicBezTo>
                <a:cubicBezTo>
                  <a:pt x="9312" y="15457"/>
                  <a:pt x="9442" y="15618"/>
                  <a:pt x="9566" y="15782"/>
                </a:cubicBezTo>
                <a:cubicBezTo>
                  <a:pt x="10552" y="17091"/>
                  <a:pt x="11622" y="18348"/>
                  <a:pt x="12799" y="19538"/>
                </a:cubicBezTo>
                <a:cubicBezTo>
                  <a:pt x="13137" y="19880"/>
                  <a:pt x="13363" y="19913"/>
                  <a:pt x="13764" y="19639"/>
                </a:cubicBezTo>
                <a:cubicBezTo>
                  <a:pt x="14071" y="19429"/>
                  <a:pt x="14340" y="19181"/>
                  <a:pt x="14638" y="18942"/>
                </a:cubicBezTo>
                <a:cubicBezTo>
                  <a:pt x="14977" y="19118"/>
                  <a:pt x="15325" y="19299"/>
                  <a:pt x="15670" y="19479"/>
                </a:cubicBezTo>
                <a:cubicBezTo>
                  <a:pt x="15874" y="19336"/>
                  <a:pt x="16024" y="19228"/>
                  <a:pt x="16179" y="19123"/>
                </a:cubicBezTo>
                <a:cubicBezTo>
                  <a:pt x="16407" y="18969"/>
                  <a:pt x="16586" y="18817"/>
                  <a:pt x="16625" y="18532"/>
                </a:cubicBezTo>
                <a:cubicBezTo>
                  <a:pt x="16663" y="18245"/>
                  <a:pt x="16848" y="17980"/>
                  <a:pt x="17238" y="17893"/>
                </a:cubicBezTo>
                <a:cubicBezTo>
                  <a:pt x="17537" y="17826"/>
                  <a:pt x="17736" y="17646"/>
                  <a:pt x="17893" y="17435"/>
                </a:cubicBezTo>
                <a:cubicBezTo>
                  <a:pt x="18144" y="17098"/>
                  <a:pt x="18337" y="16737"/>
                  <a:pt x="18424" y="16377"/>
                </a:cubicBezTo>
                <a:cubicBezTo>
                  <a:pt x="16705" y="14528"/>
                  <a:pt x="15014" y="12708"/>
                  <a:pt x="13308" y="10873"/>
                </a:cubicBezTo>
                <a:cubicBezTo>
                  <a:pt x="13494" y="10665"/>
                  <a:pt x="13612" y="10530"/>
                  <a:pt x="13734" y="10397"/>
                </a:cubicBezTo>
                <a:cubicBezTo>
                  <a:pt x="15805" y="8137"/>
                  <a:pt x="18039" y="6000"/>
                  <a:pt x="20413" y="3968"/>
                </a:cubicBezTo>
                <a:cubicBezTo>
                  <a:pt x="20703" y="3719"/>
                  <a:pt x="20983" y="3471"/>
                  <a:pt x="21190" y="3153"/>
                </a:cubicBezTo>
                <a:cubicBezTo>
                  <a:pt x="21585" y="2544"/>
                  <a:pt x="21600" y="2565"/>
                  <a:pt x="21129" y="2026"/>
                </a:cubicBezTo>
                <a:cubicBezTo>
                  <a:pt x="20955" y="1827"/>
                  <a:pt x="20762" y="1776"/>
                  <a:pt x="20487" y="1772"/>
                </a:cubicBezTo>
                <a:cubicBezTo>
                  <a:pt x="19961" y="1764"/>
                  <a:pt x="19720" y="1486"/>
                  <a:pt x="19806" y="1064"/>
                </a:cubicBezTo>
                <a:cubicBezTo>
                  <a:pt x="19825" y="971"/>
                  <a:pt x="19804" y="847"/>
                  <a:pt x="19743" y="773"/>
                </a:cubicBezTo>
                <a:cubicBezTo>
                  <a:pt x="19597" y="599"/>
                  <a:pt x="19434" y="429"/>
                  <a:pt x="19245" y="289"/>
                </a:cubicBezTo>
                <a:cubicBezTo>
                  <a:pt x="18978" y="92"/>
                  <a:pt x="18816" y="-4"/>
                  <a:pt x="18655" y="0"/>
                </a:cubicBezTo>
                <a:close/>
              </a:path>
            </a:pathLst>
          </a:cu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" name="Dingbat Check">
            <a:extLst>
              <a:ext uri="{FF2B5EF4-FFF2-40B4-BE49-F238E27FC236}">
                <a16:creationId xmlns:a16="http://schemas.microsoft.com/office/drawing/2014/main" id="{0BEA61E5-0E91-439F-9A45-691DD2F3E727}"/>
              </a:ext>
            </a:extLst>
          </p:cNvPr>
          <p:cNvSpPr/>
          <p:nvPr/>
        </p:nvSpPr>
        <p:spPr>
          <a:xfrm>
            <a:off x="18899733" y="3853225"/>
            <a:ext cx="466976" cy="4389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2" h="20404" extrusionOk="0">
                <a:moveTo>
                  <a:pt x="19340" y="6"/>
                </a:moveTo>
                <a:cubicBezTo>
                  <a:pt x="18911" y="-308"/>
                  <a:pt x="8317" y="11620"/>
                  <a:pt x="6423" y="13985"/>
                </a:cubicBezTo>
                <a:cubicBezTo>
                  <a:pt x="6323" y="14108"/>
                  <a:pt x="6215" y="14226"/>
                  <a:pt x="6090" y="14370"/>
                </a:cubicBezTo>
                <a:cubicBezTo>
                  <a:pt x="5960" y="14216"/>
                  <a:pt x="5854" y="14096"/>
                  <a:pt x="5755" y="13971"/>
                </a:cubicBezTo>
                <a:cubicBezTo>
                  <a:pt x="4964" y="12967"/>
                  <a:pt x="4458" y="12167"/>
                  <a:pt x="3657" y="11171"/>
                </a:cubicBezTo>
                <a:cubicBezTo>
                  <a:pt x="3337" y="10773"/>
                  <a:pt x="2972" y="10410"/>
                  <a:pt x="2634" y="10026"/>
                </a:cubicBezTo>
                <a:cubicBezTo>
                  <a:pt x="2472" y="9843"/>
                  <a:pt x="2283" y="9849"/>
                  <a:pt x="2071" y="9915"/>
                </a:cubicBezTo>
                <a:cubicBezTo>
                  <a:pt x="1856" y="9981"/>
                  <a:pt x="1574" y="9982"/>
                  <a:pt x="1303" y="10152"/>
                </a:cubicBezTo>
                <a:cubicBezTo>
                  <a:pt x="1209" y="10262"/>
                  <a:pt x="1332" y="10438"/>
                  <a:pt x="1349" y="10609"/>
                </a:cubicBezTo>
                <a:cubicBezTo>
                  <a:pt x="1369" y="10821"/>
                  <a:pt x="603" y="10792"/>
                  <a:pt x="203" y="11061"/>
                </a:cubicBezTo>
                <a:cubicBezTo>
                  <a:pt x="111" y="11123"/>
                  <a:pt x="286" y="11375"/>
                  <a:pt x="227" y="11440"/>
                </a:cubicBezTo>
                <a:cubicBezTo>
                  <a:pt x="51" y="11634"/>
                  <a:pt x="-61" y="11588"/>
                  <a:pt x="36" y="11826"/>
                </a:cubicBezTo>
                <a:cubicBezTo>
                  <a:pt x="896" y="13941"/>
                  <a:pt x="2182" y="15733"/>
                  <a:pt x="3218" y="17879"/>
                </a:cubicBezTo>
                <a:cubicBezTo>
                  <a:pt x="4865" y="21292"/>
                  <a:pt x="5178" y="19166"/>
                  <a:pt x="5654" y="19575"/>
                </a:cubicBezTo>
                <a:cubicBezTo>
                  <a:pt x="7119" y="20836"/>
                  <a:pt x="6474" y="21179"/>
                  <a:pt x="9921" y="16770"/>
                </a:cubicBezTo>
                <a:cubicBezTo>
                  <a:pt x="11378" y="14721"/>
                  <a:pt x="19009" y="5203"/>
                  <a:pt x="20710" y="3334"/>
                </a:cubicBezTo>
                <a:cubicBezTo>
                  <a:pt x="20919" y="3106"/>
                  <a:pt x="21118" y="2879"/>
                  <a:pt x="21258" y="2594"/>
                </a:cubicBezTo>
                <a:cubicBezTo>
                  <a:pt x="21526" y="2050"/>
                  <a:pt x="21539" y="2066"/>
                  <a:pt x="21150" y="1624"/>
                </a:cubicBezTo>
                <a:cubicBezTo>
                  <a:pt x="21006" y="1461"/>
                  <a:pt x="20856" y="1427"/>
                  <a:pt x="20646" y="1437"/>
                </a:cubicBezTo>
                <a:cubicBezTo>
                  <a:pt x="20244" y="1456"/>
                  <a:pt x="20044" y="1227"/>
                  <a:pt x="20086" y="860"/>
                </a:cubicBezTo>
                <a:cubicBezTo>
                  <a:pt x="20096" y="778"/>
                  <a:pt x="20075" y="672"/>
                  <a:pt x="20023" y="612"/>
                </a:cubicBezTo>
                <a:cubicBezTo>
                  <a:pt x="19903" y="469"/>
                  <a:pt x="19492" y="117"/>
                  <a:pt x="19340" y="6"/>
                </a:cubicBezTo>
                <a:close/>
              </a:path>
            </a:pathLst>
          </a:cu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" name="Source model">
            <a:extLst>
              <a:ext uri="{FF2B5EF4-FFF2-40B4-BE49-F238E27FC236}">
                <a16:creationId xmlns:a16="http://schemas.microsoft.com/office/drawing/2014/main" id="{7D466864-59A9-4FFE-99F9-4D9DB37DE3DB}"/>
              </a:ext>
            </a:extLst>
          </p:cNvPr>
          <p:cNvSpPr txBox="1"/>
          <p:nvPr/>
        </p:nvSpPr>
        <p:spPr>
          <a:xfrm>
            <a:off x="19393056" y="3735677"/>
            <a:ext cx="2593659" cy="1179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 lang="en-US" sz="3500" dirty="0">
                <a:solidFill>
                  <a:schemeClr val="accent3">
                    <a:lumMod val="75000"/>
                  </a:schemeClr>
                </a:solidFill>
              </a:rPr>
              <a:t>RR,WR,WW</a:t>
            </a:r>
            <a:endParaRPr lang="en-US" sz="3500" dirty="0">
              <a:solidFill>
                <a:srgbClr val="0070C0"/>
              </a:solidFill>
            </a:endParaRPr>
          </a:p>
          <a:p>
            <a:pPr algn="l"/>
            <a:r>
              <a:rPr lang="en-US" sz="3500" dirty="0">
                <a:solidFill>
                  <a:srgbClr val="FF0000"/>
                </a:solidFill>
              </a:rPr>
              <a:t>RW</a:t>
            </a:r>
            <a:endParaRPr sz="3500" dirty="0">
              <a:solidFill>
                <a:srgbClr val="FF0000"/>
              </a:solidFill>
            </a:endParaRPr>
          </a:p>
        </p:txBody>
      </p:sp>
      <p:pic>
        <p:nvPicPr>
          <p:cNvPr id="37" name="Line Shape" descr="Line Shape">
            <a:extLst>
              <a:ext uri="{FF2B5EF4-FFF2-40B4-BE49-F238E27FC236}">
                <a16:creationId xmlns:a16="http://schemas.microsoft.com/office/drawing/2014/main" id="{C0A10F29-D07C-4460-A3C5-6CB9C2B43F1E}"/>
              </a:ext>
            </a:extLst>
          </p:cNvPr>
          <p:cNvPicPr>
            <a:picLocks/>
          </p:cNvPicPr>
          <p:nvPr/>
        </p:nvPicPr>
        <p:blipFill>
          <a:blip r:embed="rId3">
            <a:biLevel thresh="75000"/>
            <a:extLst/>
          </a:blip>
          <a:stretch>
            <a:fillRect/>
          </a:stretch>
        </p:blipFill>
        <p:spPr>
          <a:xfrm flipH="1">
            <a:off x="6159596" y="3448138"/>
            <a:ext cx="2682864" cy="2663767"/>
          </a:xfrm>
          <a:prstGeom prst="rect">
            <a:avLst/>
          </a:prstGeom>
        </p:spPr>
      </p:pic>
      <p:pic>
        <p:nvPicPr>
          <p:cNvPr id="38" name="Line Shape" descr="Line Shape">
            <a:extLst>
              <a:ext uri="{FF2B5EF4-FFF2-40B4-BE49-F238E27FC236}">
                <a16:creationId xmlns:a16="http://schemas.microsoft.com/office/drawing/2014/main" id="{172674FE-2557-44E8-A612-DB3513C1F712}"/>
              </a:ext>
            </a:extLst>
          </p:cNvPr>
          <p:cNvPicPr>
            <a:picLocks/>
          </p:cNvPicPr>
          <p:nvPr/>
        </p:nvPicPr>
        <p:blipFill>
          <a:blip r:embed="rId3">
            <a:biLevel thresh="75000"/>
            <a:extLst/>
          </a:blip>
          <a:stretch>
            <a:fillRect/>
          </a:stretch>
        </p:blipFill>
        <p:spPr>
          <a:xfrm>
            <a:off x="16089481" y="3518178"/>
            <a:ext cx="2682863" cy="2663767"/>
          </a:xfrm>
          <a:prstGeom prst="rect">
            <a:avLst/>
          </a:prstGeom>
        </p:spPr>
      </p:pic>
      <p:sp>
        <p:nvSpPr>
          <p:cNvPr id="39" name="Line">
            <a:extLst>
              <a:ext uri="{FF2B5EF4-FFF2-40B4-BE49-F238E27FC236}">
                <a16:creationId xmlns:a16="http://schemas.microsoft.com/office/drawing/2014/main" id="{DEDAC0FD-5BB1-49E1-BBB1-CAF45B474612}"/>
              </a:ext>
            </a:extLst>
          </p:cNvPr>
          <p:cNvSpPr/>
          <p:nvPr/>
        </p:nvSpPr>
        <p:spPr>
          <a:xfrm>
            <a:off x="14733987" y="7086240"/>
            <a:ext cx="0" cy="2324748"/>
          </a:xfrm>
          <a:prstGeom prst="line">
            <a:avLst/>
          </a:prstGeom>
          <a:ln w="2032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" name="Source model">
            <a:extLst>
              <a:ext uri="{FF2B5EF4-FFF2-40B4-BE49-F238E27FC236}">
                <a16:creationId xmlns:a16="http://schemas.microsoft.com/office/drawing/2014/main" id="{7C3DA62B-37A3-42AB-A990-A1BF7FA0A65E}"/>
              </a:ext>
            </a:extLst>
          </p:cNvPr>
          <p:cNvSpPr txBox="1"/>
          <p:nvPr/>
        </p:nvSpPr>
        <p:spPr>
          <a:xfrm>
            <a:off x="15002878" y="7549712"/>
            <a:ext cx="7366051" cy="1179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lang="en-US" sz="3500" dirty="0">
                <a:solidFill>
                  <a:srgbClr val="FF0000"/>
                </a:solidFill>
              </a:rPr>
              <a:t>Insert fake branches after </a:t>
            </a:r>
            <a:r>
              <a:rPr lang="en-US" sz="3500" dirty="0" err="1">
                <a:solidFill>
                  <a:srgbClr val="FF0000"/>
                </a:solidFill>
              </a:rPr>
              <a:t>rlx</a:t>
            </a:r>
            <a:r>
              <a:rPr lang="en-US" sz="3500" dirty="0">
                <a:solidFill>
                  <a:srgbClr val="FF0000"/>
                </a:solidFill>
              </a:rPr>
              <a:t> reads</a:t>
            </a:r>
          </a:p>
          <a:p>
            <a:pPr algn="l"/>
            <a:r>
              <a:rPr lang="en-US" sz="3500" dirty="0">
                <a:solidFill>
                  <a:srgbClr val="FF0000"/>
                </a:solidFill>
              </a:rPr>
              <a:t>- to prevent RW </a:t>
            </a:r>
            <a:r>
              <a:rPr lang="en-US" sz="3500" dirty="0" err="1">
                <a:solidFill>
                  <a:srgbClr val="FF0000"/>
                </a:solidFill>
              </a:rPr>
              <a:t>reorderings</a:t>
            </a:r>
            <a:endParaRPr sz="3500" dirty="0">
              <a:solidFill>
                <a:srgbClr val="FF0000"/>
              </a:solidFill>
            </a:endParaRPr>
          </a:p>
        </p:txBody>
      </p:sp>
      <p:sp>
        <p:nvSpPr>
          <p:cNvPr id="41" name="out-of-order…">
            <a:extLst>
              <a:ext uri="{FF2B5EF4-FFF2-40B4-BE49-F238E27FC236}">
                <a16:creationId xmlns:a16="http://schemas.microsoft.com/office/drawing/2014/main" id="{719D6FBF-6274-4794-AD00-7742C2D4B9A6}"/>
              </a:ext>
            </a:extLst>
          </p:cNvPr>
          <p:cNvSpPr/>
          <p:nvPr/>
        </p:nvSpPr>
        <p:spPr>
          <a:xfrm>
            <a:off x="17824966" y="9733362"/>
            <a:ext cx="4887101" cy="1179811"/>
          </a:xfrm>
          <a:prstGeom prst="wedgeEllipseCallout">
            <a:avLst>
              <a:gd name="adj1" fmla="val -31248"/>
              <a:gd name="adj2" fmla="val -138756"/>
            </a:avLst>
          </a:prstGeom>
          <a:solidFill>
            <a:schemeClr val="accent5">
              <a:lumOff val="-2986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dirty="0"/>
              <a:t>Problem 2</a:t>
            </a:r>
            <a:endParaRPr dirty="0"/>
          </a:p>
        </p:txBody>
      </p:sp>
      <p:sp>
        <p:nvSpPr>
          <p:cNvPr id="42" name="out-of-order…">
            <a:extLst>
              <a:ext uri="{FF2B5EF4-FFF2-40B4-BE49-F238E27FC236}">
                <a16:creationId xmlns:a16="http://schemas.microsoft.com/office/drawing/2014/main" id="{3AA13EF0-6312-4EBC-9A4A-6BFD789BCBE2}"/>
              </a:ext>
            </a:extLst>
          </p:cNvPr>
          <p:cNvSpPr/>
          <p:nvPr/>
        </p:nvSpPr>
        <p:spPr>
          <a:xfrm>
            <a:off x="1974565" y="6058829"/>
            <a:ext cx="4887101" cy="1179811"/>
          </a:xfrm>
          <a:prstGeom prst="wedgeEllipseCallout">
            <a:avLst>
              <a:gd name="adj1" fmla="val -13923"/>
              <a:gd name="adj2" fmla="val -145932"/>
            </a:avLst>
          </a:prstGeom>
          <a:solidFill>
            <a:schemeClr val="accent5">
              <a:lumOff val="-2986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dirty="0"/>
              <a:t>Problem 1</a:t>
            </a:r>
            <a:endParaRPr dirty="0"/>
          </a:p>
        </p:txBody>
      </p:sp>
      <p:sp>
        <p:nvSpPr>
          <p:cNvPr id="43" name="out-of-order…">
            <a:extLst>
              <a:ext uri="{FF2B5EF4-FFF2-40B4-BE49-F238E27FC236}">
                <a16:creationId xmlns:a16="http://schemas.microsoft.com/office/drawing/2014/main" id="{6B4712CD-9BDC-4393-8825-7570EEEE92A7}"/>
              </a:ext>
            </a:extLst>
          </p:cNvPr>
          <p:cNvSpPr/>
          <p:nvPr/>
        </p:nvSpPr>
        <p:spPr>
          <a:xfrm>
            <a:off x="19060227" y="5598326"/>
            <a:ext cx="3173651" cy="1179811"/>
          </a:xfrm>
          <a:prstGeom prst="wedgeEllipseCallout">
            <a:avLst>
              <a:gd name="adj1" fmla="val -32315"/>
              <a:gd name="adj2" fmla="val -105745"/>
            </a:avLst>
          </a:prstGeom>
          <a:solidFill>
            <a:schemeClr val="accent3">
              <a:lumMod val="7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dirty="0"/>
              <a:t>OK</a:t>
            </a:r>
            <a:endParaRPr dirty="0"/>
          </a:p>
        </p:txBody>
      </p:sp>
      <p:sp>
        <p:nvSpPr>
          <p:cNvPr id="44" name="Dingbat X">
            <a:extLst>
              <a:ext uri="{FF2B5EF4-FFF2-40B4-BE49-F238E27FC236}">
                <a16:creationId xmlns:a16="http://schemas.microsoft.com/office/drawing/2014/main" id="{0B384A1D-05A4-4E74-930A-D0DC1C4ED2C9}"/>
              </a:ext>
            </a:extLst>
          </p:cNvPr>
          <p:cNvSpPr/>
          <p:nvPr/>
        </p:nvSpPr>
        <p:spPr>
          <a:xfrm>
            <a:off x="2140656" y="4493561"/>
            <a:ext cx="398958" cy="4355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4" h="21548" extrusionOk="0">
                <a:moveTo>
                  <a:pt x="18655" y="0"/>
                </a:moveTo>
                <a:cubicBezTo>
                  <a:pt x="18494" y="5"/>
                  <a:pt x="18333" y="109"/>
                  <a:pt x="18066" y="314"/>
                </a:cubicBezTo>
                <a:cubicBezTo>
                  <a:pt x="15478" y="2289"/>
                  <a:pt x="13027" y="4381"/>
                  <a:pt x="10727" y="6600"/>
                </a:cubicBezTo>
                <a:cubicBezTo>
                  <a:pt x="10587" y="6735"/>
                  <a:pt x="10434" y="6862"/>
                  <a:pt x="10258" y="7020"/>
                </a:cubicBezTo>
                <a:cubicBezTo>
                  <a:pt x="10102" y="6832"/>
                  <a:pt x="9974" y="6685"/>
                  <a:pt x="9856" y="6533"/>
                </a:cubicBezTo>
                <a:cubicBezTo>
                  <a:pt x="8908" y="5315"/>
                  <a:pt x="7971" y="4091"/>
                  <a:pt x="7009" y="2882"/>
                </a:cubicBezTo>
                <a:cubicBezTo>
                  <a:pt x="6625" y="2399"/>
                  <a:pt x="6178" y="1951"/>
                  <a:pt x="5769" y="1483"/>
                </a:cubicBezTo>
                <a:cubicBezTo>
                  <a:pt x="5573" y="1260"/>
                  <a:pt x="5327" y="1254"/>
                  <a:pt x="5044" y="1314"/>
                </a:cubicBezTo>
                <a:cubicBezTo>
                  <a:pt x="4759" y="1375"/>
                  <a:pt x="4593" y="1540"/>
                  <a:pt x="4590" y="1770"/>
                </a:cubicBezTo>
                <a:cubicBezTo>
                  <a:pt x="4583" y="2129"/>
                  <a:pt x="4349" y="2291"/>
                  <a:pt x="3989" y="2389"/>
                </a:cubicBezTo>
                <a:cubicBezTo>
                  <a:pt x="3741" y="2232"/>
                  <a:pt x="3498" y="2079"/>
                  <a:pt x="3221" y="1904"/>
                </a:cubicBezTo>
                <a:cubicBezTo>
                  <a:pt x="2922" y="2176"/>
                  <a:pt x="2660" y="2427"/>
                  <a:pt x="2382" y="2665"/>
                </a:cubicBezTo>
                <a:cubicBezTo>
                  <a:pt x="2135" y="2876"/>
                  <a:pt x="2125" y="3090"/>
                  <a:pt x="2231" y="3371"/>
                </a:cubicBezTo>
                <a:cubicBezTo>
                  <a:pt x="3179" y="5877"/>
                  <a:pt x="4394" y="8283"/>
                  <a:pt x="5880" y="10593"/>
                </a:cubicBezTo>
                <a:cubicBezTo>
                  <a:pt x="5956" y="10712"/>
                  <a:pt x="6024" y="10835"/>
                  <a:pt x="6094" y="10951"/>
                </a:cubicBezTo>
                <a:cubicBezTo>
                  <a:pt x="4046" y="12991"/>
                  <a:pt x="2019" y="15012"/>
                  <a:pt x="0" y="17024"/>
                </a:cubicBezTo>
                <a:cubicBezTo>
                  <a:pt x="166" y="17359"/>
                  <a:pt x="297" y="17644"/>
                  <a:pt x="450" y="17921"/>
                </a:cubicBezTo>
                <a:cubicBezTo>
                  <a:pt x="559" y="18117"/>
                  <a:pt x="570" y="18299"/>
                  <a:pt x="443" y="18491"/>
                </a:cubicBezTo>
                <a:cubicBezTo>
                  <a:pt x="355" y="18625"/>
                  <a:pt x="277" y="18763"/>
                  <a:pt x="214" y="18906"/>
                </a:cubicBezTo>
                <a:cubicBezTo>
                  <a:pt x="179" y="18986"/>
                  <a:pt x="139" y="19096"/>
                  <a:pt x="175" y="19164"/>
                </a:cubicBezTo>
                <a:cubicBezTo>
                  <a:pt x="462" y="19717"/>
                  <a:pt x="876" y="20186"/>
                  <a:pt x="1406" y="20550"/>
                </a:cubicBezTo>
                <a:cubicBezTo>
                  <a:pt x="1668" y="20457"/>
                  <a:pt x="1862" y="20370"/>
                  <a:pt x="2068" y="20319"/>
                </a:cubicBezTo>
                <a:cubicBezTo>
                  <a:pt x="2305" y="20259"/>
                  <a:pt x="2506" y="20384"/>
                  <a:pt x="2432" y="20567"/>
                </a:cubicBezTo>
                <a:cubicBezTo>
                  <a:pt x="2271" y="20967"/>
                  <a:pt x="2606" y="21165"/>
                  <a:pt x="2838" y="21403"/>
                </a:cubicBezTo>
                <a:cubicBezTo>
                  <a:pt x="3027" y="21596"/>
                  <a:pt x="3335" y="21593"/>
                  <a:pt x="3548" y="21414"/>
                </a:cubicBezTo>
                <a:cubicBezTo>
                  <a:pt x="3624" y="21350"/>
                  <a:pt x="3679" y="21268"/>
                  <a:pt x="3745" y="21195"/>
                </a:cubicBezTo>
                <a:cubicBezTo>
                  <a:pt x="5406" y="19353"/>
                  <a:pt x="7068" y="17510"/>
                  <a:pt x="8732" y="15669"/>
                </a:cubicBezTo>
                <a:cubicBezTo>
                  <a:pt x="8850" y="15538"/>
                  <a:pt x="8982" y="15417"/>
                  <a:pt x="9151" y="15248"/>
                </a:cubicBezTo>
                <a:cubicBezTo>
                  <a:pt x="9312" y="15457"/>
                  <a:pt x="9442" y="15618"/>
                  <a:pt x="9566" y="15782"/>
                </a:cubicBezTo>
                <a:cubicBezTo>
                  <a:pt x="10552" y="17091"/>
                  <a:pt x="11622" y="18348"/>
                  <a:pt x="12799" y="19538"/>
                </a:cubicBezTo>
                <a:cubicBezTo>
                  <a:pt x="13137" y="19880"/>
                  <a:pt x="13363" y="19913"/>
                  <a:pt x="13764" y="19639"/>
                </a:cubicBezTo>
                <a:cubicBezTo>
                  <a:pt x="14071" y="19429"/>
                  <a:pt x="14340" y="19181"/>
                  <a:pt x="14638" y="18942"/>
                </a:cubicBezTo>
                <a:cubicBezTo>
                  <a:pt x="14977" y="19118"/>
                  <a:pt x="15325" y="19299"/>
                  <a:pt x="15670" y="19479"/>
                </a:cubicBezTo>
                <a:cubicBezTo>
                  <a:pt x="15874" y="19336"/>
                  <a:pt x="16024" y="19228"/>
                  <a:pt x="16179" y="19123"/>
                </a:cubicBezTo>
                <a:cubicBezTo>
                  <a:pt x="16407" y="18969"/>
                  <a:pt x="16586" y="18817"/>
                  <a:pt x="16625" y="18532"/>
                </a:cubicBezTo>
                <a:cubicBezTo>
                  <a:pt x="16663" y="18245"/>
                  <a:pt x="16848" y="17980"/>
                  <a:pt x="17238" y="17893"/>
                </a:cubicBezTo>
                <a:cubicBezTo>
                  <a:pt x="17537" y="17826"/>
                  <a:pt x="17736" y="17646"/>
                  <a:pt x="17893" y="17435"/>
                </a:cubicBezTo>
                <a:cubicBezTo>
                  <a:pt x="18144" y="17098"/>
                  <a:pt x="18337" y="16737"/>
                  <a:pt x="18424" y="16377"/>
                </a:cubicBezTo>
                <a:cubicBezTo>
                  <a:pt x="16705" y="14528"/>
                  <a:pt x="15014" y="12708"/>
                  <a:pt x="13308" y="10873"/>
                </a:cubicBezTo>
                <a:cubicBezTo>
                  <a:pt x="13494" y="10665"/>
                  <a:pt x="13612" y="10530"/>
                  <a:pt x="13734" y="10397"/>
                </a:cubicBezTo>
                <a:cubicBezTo>
                  <a:pt x="15805" y="8137"/>
                  <a:pt x="18039" y="6000"/>
                  <a:pt x="20413" y="3968"/>
                </a:cubicBezTo>
                <a:cubicBezTo>
                  <a:pt x="20703" y="3719"/>
                  <a:pt x="20983" y="3471"/>
                  <a:pt x="21190" y="3153"/>
                </a:cubicBezTo>
                <a:cubicBezTo>
                  <a:pt x="21585" y="2544"/>
                  <a:pt x="21600" y="2565"/>
                  <a:pt x="21129" y="2026"/>
                </a:cubicBezTo>
                <a:cubicBezTo>
                  <a:pt x="20955" y="1827"/>
                  <a:pt x="20762" y="1776"/>
                  <a:pt x="20487" y="1772"/>
                </a:cubicBezTo>
                <a:cubicBezTo>
                  <a:pt x="19961" y="1764"/>
                  <a:pt x="19720" y="1486"/>
                  <a:pt x="19806" y="1064"/>
                </a:cubicBezTo>
                <a:cubicBezTo>
                  <a:pt x="19825" y="971"/>
                  <a:pt x="19804" y="847"/>
                  <a:pt x="19743" y="773"/>
                </a:cubicBezTo>
                <a:cubicBezTo>
                  <a:pt x="19597" y="599"/>
                  <a:pt x="19434" y="429"/>
                  <a:pt x="19245" y="289"/>
                </a:cubicBezTo>
                <a:cubicBezTo>
                  <a:pt x="18978" y="92"/>
                  <a:pt x="18816" y="-4"/>
                  <a:pt x="18655" y="0"/>
                </a:cubicBezTo>
                <a:close/>
              </a:path>
            </a:pathLst>
          </a:cu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" name="Dingbat Check">
            <a:extLst>
              <a:ext uri="{FF2B5EF4-FFF2-40B4-BE49-F238E27FC236}">
                <a16:creationId xmlns:a16="http://schemas.microsoft.com/office/drawing/2014/main" id="{27A9A913-4050-4D95-8113-F63ED069C8BF}"/>
              </a:ext>
            </a:extLst>
          </p:cNvPr>
          <p:cNvSpPr/>
          <p:nvPr/>
        </p:nvSpPr>
        <p:spPr>
          <a:xfrm>
            <a:off x="2081364" y="3914063"/>
            <a:ext cx="466976" cy="4389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2" h="20404" extrusionOk="0">
                <a:moveTo>
                  <a:pt x="19340" y="6"/>
                </a:moveTo>
                <a:cubicBezTo>
                  <a:pt x="18911" y="-308"/>
                  <a:pt x="8317" y="11620"/>
                  <a:pt x="6423" y="13985"/>
                </a:cubicBezTo>
                <a:cubicBezTo>
                  <a:pt x="6323" y="14108"/>
                  <a:pt x="6215" y="14226"/>
                  <a:pt x="6090" y="14370"/>
                </a:cubicBezTo>
                <a:cubicBezTo>
                  <a:pt x="5960" y="14216"/>
                  <a:pt x="5854" y="14096"/>
                  <a:pt x="5755" y="13971"/>
                </a:cubicBezTo>
                <a:cubicBezTo>
                  <a:pt x="4964" y="12967"/>
                  <a:pt x="4458" y="12167"/>
                  <a:pt x="3657" y="11171"/>
                </a:cubicBezTo>
                <a:cubicBezTo>
                  <a:pt x="3337" y="10773"/>
                  <a:pt x="2972" y="10410"/>
                  <a:pt x="2634" y="10026"/>
                </a:cubicBezTo>
                <a:cubicBezTo>
                  <a:pt x="2472" y="9843"/>
                  <a:pt x="2283" y="9849"/>
                  <a:pt x="2071" y="9915"/>
                </a:cubicBezTo>
                <a:cubicBezTo>
                  <a:pt x="1856" y="9981"/>
                  <a:pt x="1574" y="9982"/>
                  <a:pt x="1303" y="10152"/>
                </a:cubicBezTo>
                <a:cubicBezTo>
                  <a:pt x="1209" y="10262"/>
                  <a:pt x="1332" y="10438"/>
                  <a:pt x="1349" y="10609"/>
                </a:cubicBezTo>
                <a:cubicBezTo>
                  <a:pt x="1369" y="10821"/>
                  <a:pt x="603" y="10792"/>
                  <a:pt x="203" y="11061"/>
                </a:cubicBezTo>
                <a:cubicBezTo>
                  <a:pt x="111" y="11123"/>
                  <a:pt x="286" y="11375"/>
                  <a:pt x="227" y="11440"/>
                </a:cubicBezTo>
                <a:cubicBezTo>
                  <a:pt x="51" y="11634"/>
                  <a:pt x="-61" y="11588"/>
                  <a:pt x="36" y="11826"/>
                </a:cubicBezTo>
                <a:cubicBezTo>
                  <a:pt x="896" y="13941"/>
                  <a:pt x="2182" y="15733"/>
                  <a:pt x="3218" y="17879"/>
                </a:cubicBezTo>
                <a:cubicBezTo>
                  <a:pt x="4865" y="21292"/>
                  <a:pt x="5178" y="19166"/>
                  <a:pt x="5654" y="19575"/>
                </a:cubicBezTo>
                <a:cubicBezTo>
                  <a:pt x="7119" y="20836"/>
                  <a:pt x="6474" y="21179"/>
                  <a:pt x="9921" y="16770"/>
                </a:cubicBezTo>
                <a:cubicBezTo>
                  <a:pt x="11378" y="14721"/>
                  <a:pt x="19009" y="5203"/>
                  <a:pt x="20710" y="3334"/>
                </a:cubicBezTo>
                <a:cubicBezTo>
                  <a:pt x="20919" y="3106"/>
                  <a:pt x="21118" y="2879"/>
                  <a:pt x="21258" y="2594"/>
                </a:cubicBezTo>
                <a:cubicBezTo>
                  <a:pt x="21526" y="2050"/>
                  <a:pt x="21539" y="2066"/>
                  <a:pt x="21150" y="1624"/>
                </a:cubicBezTo>
                <a:cubicBezTo>
                  <a:pt x="21006" y="1461"/>
                  <a:pt x="20856" y="1427"/>
                  <a:pt x="20646" y="1437"/>
                </a:cubicBezTo>
                <a:cubicBezTo>
                  <a:pt x="20244" y="1456"/>
                  <a:pt x="20044" y="1227"/>
                  <a:pt x="20086" y="860"/>
                </a:cubicBezTo>
                <a:cubicBezTo>
                  <a:pt x="20096" y="778"/>
                  <a:pt x="20075" y="672"/>
                  <a:pt x="20023" y="612"/>
                </a:cubicBezTo>
                <a:cubicBezTo>
                  <a:pt x="19903" y="469"/>
                  <a:pt x="19492" y="117"/>
                  <a:pt x="19340" y="6"/>
                </a:cubicBezTo>
                <a:close/>
              </a:path>
            </a:pathLst>
          </a:cu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216644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6" grpId="0" animBg="1"/>
      <p:bldP spid="40" grpId="0" animBg="1"/>
      <p:bldP spid="41" grpId="0" animBg="1" advAuto="0"/>
      <p:bldP spid="42" grpId="0" animBg="1" advAuto="0"/>
      <p:bldP spid="43" grpId="0" animBg="1"/>
      <p:bldP spid="44" grpId="0" animBg="1"/>
      <p:bldP spid="4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Results: All Formalized in Coq"/>
          <p:cNvSpPr txBox="1">
            <a:spLocks noGrp="1"/>
          </p:cNvSpPr>
          <p:nvPr>
            <p:ph type="title"/>
          </p:nvPr>
        </p:nvSpPr>
        <p:spPr>
          <a:xfrm>
            <a:off x="1448872" y="-24397"/>
            <a:ext cx="21486256" cy="2286001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rPr lang="en-US" dirty="0"/>
              <a:t>Our Solution to The Problems</a:t>
            </a:r>
            <a:endParaRPr dirty="0"/>
          </a:p>
        </p:txBody>
      </p:sp>
      <p:sp>
        <p:nvSpPr>
          <p:cNvPr id="454" name="Hardware models…"/>
          <p:cNvSpPr/>
          <p:nvPr/>
        </p:nvSpPr>
        <p:spPr>
          <a:xfrm>
            <a:off x="7779835" y="10833386"/>
            <a:ext cx="9231313" cy="2094791"/>
          </a:xfrm>
          <a:prstGeom prst="roundRect">
            <a:avLst>
              <a:gd name="adj" fmla="val 15000"/>
            </a:avLst>
          </a:prstGeom>
          <a:solidFill>
            <a:srgbClr val="F1B6B0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r>
              <a:rPr lang="en-US" altLang="ko-KR" dirty="0">
                <a:solidFill>
                  <a:srgbClr val="FF0000"/>
                </a:solidFill>
              </a:rPr>
              <a:t>Out-of-order</a:t>
            </a:r>
          </a:p>
        </p:txBody>
      </p:sp>
      <p:sp>
        <p:nvSpPr>
          <p:cNvPr id="457" name="Non-atomic:…"/>
          <p:cNvSpPr/>
          <p:nvPr/>
        </p:nvSpPr>
        <p:spPr>
          <a:xfrm>
            <a:off x="7754435" y="7463800"/>
            <a:ext cx="4639073" cy="20947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extrusionOk="0">
                <a:moveTo>
                  <a:pt x="2238" y="0"/>
                </a:moveTo>
                <a:cubicBezTo>
                  <a:pt x="1910" y="0"/>
                  <a:pt x="1645" y="-2"/>
                  <a:pt x="1432" y="28"/>
                </a:cubicBezTo>
                <a:cubicBezTo>
                  <a:pt x="1219" y="59"/>
                  <a:pt x="1055" y="120"/>
                  <a:pt x="924" y="241"/>
                </a:cubicBezTo>
                <a:cubicBezTo>
                  <a:pt x="735" y="394"/>
                  <a:pt x="566" y="637"/>
                  <a:pt x="427" y="945"/>
                </a:cubicBezTo>
                <a:cubicBezTo>
                  <a:pt x="288" y="1253"/>
                  <a:pt x="180" y="1627"/>
                  <a:pt x="111" y="2046"/>
                </a:cubicBezTo>
                <a:cubicBezTo>
                  <a:pt x="56" y="2336"/>
                  <a:pt x="28" y="2699"/>
                  <a:pt x="15" y="3171"/>
                </a:cubicBezTo>
                <a:cubicBezTo>
                  <a:pt x="1" y="3643"/>
                  <a:pt x="0" y="4224"/>
                  <a:pt x="0" y="4951"/>
                </a:cubicBezTo>
                <a:lnTo>
                  <a:pt x="0" y="16645"/>
                </a:lnTo>
                <a:cubicBezTo>
                  <a:pt x="0" y="17372"/>
                  <a:pt x="1" y="17953"/>
                  <a:pt x="15" y="18425"/>
                </a:cubicBezTo>
                <a:cubicBezTo>
                  <a:pt x="28" y="18897"/>
                  <a:pt x="56" y="19260"/>
                  <a:pt x="111" y="19550"/>
                </a:cubicBezTo>
                <a:cubicBezTo>
                  <a:pt x="180" y="19969"/>
                  <a:pt x="288" y="20343"/>
                  <a:pt x="427" y="20651"/>
                </a:cubicBezTo>
                <a:cubicBezTo>
                  <a:pt x="566" y="20959"/>
                  <a:pt x="735" y="21202"/>
                  <a:pt x="924" y="21355"/>
                </a:cubicBezTo>
                <a:cubicBezTo>
                  <a:pt x="1055" y="21476"/>
                  <a:pt x="1219" y="21537"/>
                  <a:pt x="1432" y="21568"/>
                </a:cubicBezTo>
                <a:cubicBezTo>
                  <a:pt x="1645" y="21598"/>
                  <a:pt x="1910" y="21596"/>
                  <a:pt x="2238" y="21596"/>
                </a:cubicBezTo>
                <a:lnTo>
                  <a:pt x="21600" y="21596"/>
                </a:lnTo>
                <a:lnTo>
                  <a:pt x="21600" y="0"/>
                </a:lnTo>
                <a:lnTo>
                  <a:pt x="2238" y="0"/>
                </a:lnTo>
                <a:close/>
              </a:path>
            </a:pathLst>
          </a:custGeom>
          <a:solidFill>
            <a:srgbClr val="F1B6B0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r>
              <a:rPr dirty="0"/>
              <a:t>Non-atomic:</a:t>
            </a:r>
          </a:p>
          <a:p>
            <a:r>
              <a:rPr lang="en-US" dirty="0">
                <a:solidFill>
                  <a:srgbClr val="FF0000"/>
                </a:solidFill>
              </a:rPr>
              <a:t>Out-of</a:t>
            </a:r>
            <a:r>
              <a:rPr dirty="0">
                <a:solidFill>
                  <a:srgbClr val="FF0000"/>
                </a:solidFill>
              </a:rPr>
              <a:t>-order</a:t>
            </a:r>
          </a:p>
        </p:txBody>
      </p:sp>
      <p:sp>
        <p:nvSpPr>
          <p:cNvPr id="458" name="Atomic:…"/>
          <p:cNvSpPr/>
          <p:nvPr/>
        </p:nvSpPr>
        <p:spPr>
          <a:xfrm>
            <a:off x="12541365" y="7463800"/>
            <a:ext cx="4639072" cy="20947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extrusionOk="0">
                <a:moveTo>
                  <a:pt x="0" y="0"/>
                </a:moveTo>
                <a:lnTo>
                  <a:pt x="0" y="21596"/>
                </a:lnTo>
                <a:lnTo>
                  <a:pt x="19355" y="21596"/>
                </a:lnTo>
                <a:cubicBezTo>
                  <a:pt x="19684" y="21596"/>
                  <a:pt x="19949" y="21598"/>
                  <a:pt x="20163" y="21568"/>
                </a:cubicBezTo>
                <a:cubicBezTo>
                  <a:pt x="20377" y="21537"/>
                  <a:pt x="20541" y="21476"/>
                  <a:pt x="20673" y="21355"/>
                </a:cubicBezTo>
                <a:cubicBezTo>
                  <a:pt x="20863" y="21202"/>
                  <a:pt x="21032" y="20959"/>
                  <a:pt x="21172" y="20651"/>
                </a:cubicBezTo>
                <a:cubicBezTo>
                  <a:pt x="21311" y="20343"/>
                  <a:pt x="21420" y="19969"/>
                  <a:pt x="21489" y="19550"/>
                </a:cubicBezTo>
                <a:cubicBezTo>
                  <a:pt x="21544" y="19260"/>
                  <a:pt x="21571" y="18897"/>
                  <a:pt x="21585" y="18425"/>
                </a:cubicBezTo>
                <a:cubicBezTo>
                  <a:pt x="21599" y="17953"/>
                  <a:pt x="21600" y="17372"/>
                  <a:pt x="21600" y="16645"/>
                </a:cubicBezTo>
                <a:lnTo>
                  <a:pt x="21600" y="4951"/>
                </a:lnTo>
                <a:cubicBezTo>
                  <a:pt x="21600" y="4224"/>
                  <a:pt x="21599" y="3643"/>
                  <a:pt x="21585" y="3171"/>
                </a:cubicBezTo>
                <a:cubicBezTo>
                  <a:pt x="21571" y="2699"/>
                  <a:pt x="21544" y="2336"/>
                  <a:pt x="21489" y="2046"/>
                </a:cubicBezTo>
                <a:cubicBezTo>
                  <a:pt x="21420" y="1627"/>
                  <a:pt x="21311" y="1253"/>
                  <a:pt x="21172" y="945"/>
                </a:cubicBezTo>
                <a:cubicBezTo>
                  <a:pt x="21032" y="637"/>
                  <a:pt x="20863" y="394"/>
                  <a:pt x="20673" y="241"/>
                </a:cubicBezTo>
                <a:cubicBezTo>
                  <a:pt x="20541" y="120"/>
                  <a:pt x="20377" y="59"/>
                  <a:pt x="20163" y="28"/>
                </a:cubicBezTo>
                <a:cubicBezTo>
                  <a:pt x="19949" y="-2"/>
                  <a:pt x="19684" y="0"/>
                  <a:pt x="19355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B6DDE6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r>
              <a:rPr dirty="0"/>
              <a:t>Atomic:</a:t>
            </a:r>
          </a:p>
          <a:p>
            <a:r>
              <a:rPr dirty="0">
                <a:solidFill>
                  <a:srgbClr val="0070C0"/>
                </a:solidFill>
              </a:rPr>
              <a:t>In-order</a:t>
            </a:r>
          </a:p>
        </p:txBody>
      </p:sp>
      <p:sp>
        <p:nvSpPr>
          <p:cNvPr id="460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466" name="Source model"/>
          <p:cNvSpPr txBox="1"/>
          <p:nvPr/>
        </p:nvSpPr>
        <p:spPr>
          <a:xfrm>
            <a:off x="9758806" y="6102722"/>
            <a:ext cx="5536773" cy="1456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n-US" sz="5500" dirty="0"/>
              <a:t>vRC11</a:t>
            </a:r>
            <a:br>
              <a:rPr lang="en-US" sz="5500" dirty="0"/>
            </a:br>
            <a:r>
              <a:rPr lang="en-US" sz="5500" dirty="0">
                <a:solidFill>
                  <a:srgbClr val="FF0000"/>
                </a:solidFill>
              </a:rPr>
              <a:t>+promises on </a:t>
            </a:r>
            <a:r>
              <a:rPr lang="en-US" sz="5500" dirty="0" err="1">
                <a:solidFill>
                  <a:srgbClr val="FF0000"/>
                </a:solidFill>
              </a:rPr>
              <a:t>na</a:t>
            </a:r>
            <a:endParaRPr sz="5500" dirty="0">
              <a:solidFill>
                <a:srgbClr val="FF0000"/>
              </a:solidFill>
            </a:endParaRPr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CA87B008-082F-4249-B6CD-62D042297E82}"/>
              </a:ext>
            </a:extLst>
          </p:cNvPr>
          <p:cNvSpPr/>
          <p:nvPr/>
        </p:nvSpPr>
        <p:spPr>
          <a:xfrm flipH="1">
            <a:off x="9431883" y="9609310"/>
            <a:ext cx="16556" cy="1277181"/>
          </a:xfrm>
          <a:prstGeom prst="line">
            <a:avLst/>
          </a:prstGeom>
          <a:ln w="2032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" name="Source model">
            <a:extLst>
              <a:ext uri="{FF2B5EF4-FFF2-40B4-BE49-F238E27FC236}">
                <a16:creationId xmlns:a16="http://schemas.microsoft.com/office/drawing/2014/main" id="{DAF54A9B-E490-4841-BAEE-C6B028E8FEC3}"/>
              </a:ext>
            </a:extLst>
          </p:cNvPr>
          <p:cNvSpPr txBox="1"/>
          <p:nvPr/>
        </p:nvSpPr>
        <p:spPr>
          <a:xfrm>
            <a:off x="11977909" y="9941331"/>
            <a:ext cx="1126912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/>
              <a:t>HW</a:t>
            </a:r>
            <a:endParaRPr dirty="0"/>
          </a:p>
        </p:txBody>
      </p:sp>
      <p:sp>
        <p:nvSpPr>
          <p:cNvPr id="40" name="Source model">
            <a:extLst>
              <a:ext uri="{FF2B5EF4-FFF2-40B4-BE49-F238E27FC236}">
                <a16:creationId xmlns:a16="http://schemas.microsoft.com/office/drawing/2014/main" id="{7C3DA62B-37A3-42AB-A990-A1BF7FA0A65E}"/>
              </a:ext>
            </a:extLst>
          </p:cNvPr>
          <p:cNvSpPr txBox="1"/>
          <p:nvPr/>
        </p:nvSpPr>
        <p:spPr>
          <a:xfrm>
            <a:off x="15898591" y="9553461"/>
            <a:ext cx="7257749" cy="1179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lang="en-US" sz="3500" strike="sngStrike" dirty="0">
                <a:solidFill>
                  <a:srgbClr val="FF0000"/>
                </a:solidFill>
              </a:rPr>
              <a:t>Insert fake branches after </a:t>
            </a:r>
            <a:r>
              <a:rPr lang="en-US" sz="3500" strike="sngStrike" dirty="0" err="1">
                <a:solidFill>
                  <a:srgbClr val="FF0000"/>
                </a:solidFill>
              </a:rPr>
              <a:t>rlx</a:t>
            </a:r>
            <a:r>
              <a:rPr lang="en-US" sz="3500" strike="sngStrike" dirty="0">
                <a:solidFill>
                  <a:srgbClr val="FF0000"/>
                </a:solidFill>
              </a:rPr>
              <a:t> reads</a:t>
            </a:r>
          </a:p>
          <a:p>
            <a:pPr algn="l"/>
            <a:r>
              <a:rPr lang="en-US" sz="3500" dirty="0">
                <a:solidFill>
                  <a:srgbClr val="0070C0"/>
                </a:solidFill>
              </a:rPr>
              <a:t>Insert RW fences before </a:t>
            </a:r>
            <a:r>
              <a:rPr lang="en-US" sz="3500" dirty="0" err="1">
                <a:solidFill>
                  <a:srgbClr val="0070C0"/>
                </a:solidFill>
              </a:rPr>
              <a:t>rlx</a:t>
            </a:r>
            <a:r>
              <a:rPr lang="ko-KR" altLang="en-US" sz="3500" dirty="0">
                <a:solidFill>
                  <a:srgbClr val="0070C0"/>
                </a:solidFill>
              </a:rPr>
              <a:t> </a:t>
            </a:r>
            <a:r>
              <a:rPr lang="en-US" altLang="ko-KR" sz="3500" dirty="0">
                <a:solidFill>
                  <a:srgbClr val="0070C0"/>
                </a:solidFill>
              </a:rPr>
              <a:t>writes</a:t>
            </a:r>
            <a:endParaRPr lang="en-US" sz="3500" dirty="0">
              <a:solidFill>
                <a:srgbClr val="0070C0"/>
              </a:solidFill>
            </a:endParaRPr>
          </a:p>
        </p:txBody>
      </p:sp>
      <p:sp>
        <p:nvSpPr>
          <p:cNvPr id="23" name="Non-atomic:…">
            <a:extLst>
              <a:ext uri="{FF2B5EF4-FFF2-40B4-BE49-F238E27FC236}">
                <a16:creationId xmlns:a16="http://schemas.microsoft.com/office/drawing/2014/main" id="{CF1F362B-D262-4E42-9E70-91019F30E533}"/>
              </a:ext>
            </a:extLst>
          </p:cNvPr>
          <p:cNvSpPr/>
          <p:nvPr/>
        </p:nvSpPr>
        <p:spPr>
          <a:xfrm>
            <a:off x="7754435" y="3528980"/>
            <a:ext cx="4639073" cy="20947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extrusionOk="0">
                <a:moveTo>
                  <a:pt x="2238" y="0"/>
                </a:moveTo>
                <a:cubicBezTo>
                  <a:pt x="1910" y="0"/>
                  <a:pt x="1645" y="-2"/>
                  <a:pt x="1432" y="28"/>
                </a:cubicBezTo>
                <a:cubicBezTo>
                  <a:pt x="1219" y="59"/>
                  <a:pt x="1055" y="120"/>
                  <a:pt x="924" y="241"/>
                </a:cubicBezTo>
                <a:cubicBezTo>
                  <a:pt x="735" y="394"/>
                  <a:pt x="566" y="637"/>
                  <a:pt x="427" y="945"/>
                </a:cubicBezTo>
                <a:cubicBezTo>
                  <a:pt x="288" y="1253"/>
                  <a:pt x="180" y="1627"/>
                  <a:pt x="111" y="2046"/>
                </a:cubicBezTo>
                <a:cubicBezTo>
                  <a:pt x="56" y="2336"/>
                  <a:pt x="28" y="2699"/>
                  <a:pt x="15" y="3171"/>
                </a:cubicBezTo>
                <a:cubicBezTo>
                  <a:pt x="1" y="3643"/>
                  <a:pt x="0" y="4224"/>
                  <a:pt x="0" y="4951"/>
                </a:cubicBezTo>
                <a:lnTo>
                  <a:pt x="0" y="16645"/>
                </a:lnTo>
                <a:cubicBezTo>
                  <a:pt x="0" y="17372"/>
                  <a:pt x="1" y="17953"/>
                  <a:pt x="15" y="18425"/>
                </a:cubicBezTo>
                <a:cubicBezTo>
                  <a:pt x="28" y="18897"/>
                  <a:pt x="56" y="19260"/>
                  <a:pt x="111" y="19550"/>
                </a:cubicBezTo>
                <a:cubicBezTo>
                  <a:pt x="180" y="19969"/>
                  <a:pt x="288" y="20343"/>
                  <a:pt x="427" y="20651"/>
                </a:cubicBezTo>
                <a:cubicBezTo>
                  <a:pt x="566" y="20959"/>
                  <a:pt x="735" y="21202"/>
                  <a:pt x="924" y="21355"/>
                </a:cubicBezTo>
                <a:cubicBezTo>
                  <a:pt x="1055" y="21476"/>
                  <a:pt x="1219" y="21537"/>
                  <a:pt x="1432" y="21568"/>
                </a:cubicBezTo>
                <a:cubicBezTo>
                  <a:pt x="1645" y="21598"/>
                  <a:pt x="1910" y="21596"/>
                  <a:pt x="2238" y="21596"/>
                </a:cubicBezTo>
                <a:lnTo>
                  <a:pt x="21600" y="21596"/>
                </a:lnTo>
                <a:lnTo>
                  <a:pt x="21600" y="0"/>
                </a:lnTo>
                <a:lnTo>
                  <a:pt x="2238" y="0"/>
                </a:lnTo>
                <a:close/>
              </a:path>
            </a:pathLst>
          </a:custGeom>
          <a:solidFill>
            <a:srgbClr val="B6DDE6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r>
              <a:rPr lang="en-US" altLang="ko-KR" dirty="0"/>
              <a:t>Non-atomic:</a:t>
            </a:r>
          </a:p>
          <a:p>
            <a:r>
              <a:rPr lang="en-US" altLang="ko-KR" dirty="0">
                <a:solidFill>
                  <a:srgbClr val="0070C0"/>
                </a:solidFill>
              </a:rPr>
              <a:t>In-order </a:t>
            </a:r>
            <a:r>
              <a:rPr lang="en-US" altLang="ko-KR" sz="3000" dirty="0">
                <a:solidFill>
                  <a:srgbClr val="0070C0"/>
                </a:solidFill>
              </a:rPr>
              <a:t>(Race-Free)</a:t>
            </a:r>
          </a:p>
        </p:txBody>
      </p:sp>
      <p:sp>
        <p:nvSpPr>
          <p:cNvPr id="24" name="Atomic:…">
            <a:extLst>
              <a:ext uri="{FF2B5EF4-FFF2-40B4-BE49-F238E27FC236}">
                <a16:creationId xmlns:a16="http://schemas.microsoft.com/office/drawing/2014/main" id="{CACEFDEB-21B3-4492-B180-595365C96F47}"/>
              </a:ext>
            </a:extLst>
          </p:cNvPr>
          <p:cNvSpPr/>
          <p:nvPr/>
        </p:nvSpPr>
        <p:spPr>
          <a:xfrm>
            <a:off x="12541365" y="3528980"/>
            <a:ext cx="4639072" cy="20947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extrusionOk="0">
                <a:moveTo>
                  <a:pt x="0" y="0"/>
                </a:moveTo>
                <a:lnTo>
                  <a:pt x="0" y="21596"/>
                </a:lnTo>
                <a:lnTo>
                  <a:pt x="19355" y="21596"/>
                </a:lnTo>
                <a:cubicBezTo>
                  <a:pt x="19684" y="21596"/>
                  <a:pt x="19949" y="21598"/>
                  <a:pt x="20163" y="21568"/>
                </a:cubicBezTo>
                <a:cubicBezTo>
                  <a:pt x="20377" y="21537"/>
                  <a:pt x="20541" y="21476"/>
                  <a:pt x="20673" y="21355"/>
                </a:cubicBezTo>
                <a:cubicBezTo>
                  <a:pt x="20863" y="21202"/>
                  <a:pt x="21032" y="20959"/>
                  <a:pt x="21172" y="20651"/>
                </a:cubicBezTo>
                <a:cubicBezTo>
                  <a:pt x="21311" y="20343"/>
                  <a:pt x="21420" y="19969"/>
                  <a:pt x="21489" y="19550"/>
                </a:cubicBezTo>
                <a:cubicBezTo>
                  <a:pt x="21544" y="19260"/>
                  <a:pt x="21571" y="18897"/>
                  <a:pt x="21585" y="18425"/>
                </a:cubicBezTo>
                <a:cubicBezTo>
                  <a:pt x="21599" y="17953"/>
                  <a:pt x="21600" y="17372"/>
                  <a:pt x="21600" y="16645"/>
                </a:cubicBezTo>
                <a:lnTo>
                  <a:pt x="21600" y="4951"/>
                </a:lnTo>
                <a:cubicBezTo>
                  <a:pt x="21600" y="4224"/>
                  <a:pt x="21599" y="3643"/>
                  <a:pt x="21585" y="3171"/>
                </a:cubicBezTo>
                <a:cubicBezTo>
                  <a:pt x="21571" y="2699"/>
                  <a:pt x="21544" y="2336"/>
                  <a:pt x="21489" y="2046"/>
                </a:cubicBezTo>
                <a:cubicBezTo>
                  <a:pt x="21420" y="1627"/>
                  <a:pt x="21311" y="1253"/>
                  <a:pt x="21172" y="945"/>
                </a:cubicBezTo>
                <a:cubicBezTo>
                  <a:pt x="21032" y="637"/>
                  <a:pt x="20863" y="394"/>
                  <a:pt x="20673" y="241"/>
                </a:cubicBezTo>
                <a:cubicBezTo>
                  <a:pt x="20541" y="120"/>
                  <a:pt x="20377" y="59"/>
                  <a:pt x="20163" y="28"/>
                </a:cubicBezTo>
                <a:cubicBezTo>
                  <a:pt x="19949" y="-2"/>
                  <a:pt x="19684" y="0"/>
                  <a:pt x="19355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B6DDE6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r>
              <a:rPr dirty="0"/>
              <a:t>Atomic:</a:t>
            </a:r>
          </a:p>
          <a:p>
            <a:r>
              <a:rPr dirty="0">
                <a:solidFill>
                  <a:srgbClr val="0070C0"/>
                </a:solidFill>
              </a:rPr>
              <a:t>In-order</a:t>
            </a:r>
          </a:p>
        </p:txBody>
      </p:sp>
      <p:sp>
        <p:nvSpPr>
          <p:cNvPr id="25" name="Source model">
            <a:extLst>
              <a:ext uri="{FF2B5EF4-FFF2-40B4-BE49-F238E27FC236}">
                <a16:creationId xmlns:a16="http://schemas.microsoft.com/office/drawing/2014/main" id="{790790E5-50DF-4777-BCD5-A91942FF0170}"/>
              </a:ext>
            </a:extLst>
          </p:cNvPr>
          <p:cNvSpPr txBox="1"/>
          <p:nvPr/>
        </p:nvSpPr>
        <p:spPr>
          <a:xfrm>
            <a:off x="11340906" y="2390676"/>
            <a:ext cx="2731517" cy="948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US" sz="5500" dirty="0"/>
              <a:t>(v)RC11</a:t>
            </a:r>
            <a:endParaRPr sz="5500" dirty="0"/>
          </a:p>
        </p:txBody>
      </p:sp>
      <p:sp>
        <p:nvSpPr>
          <p:cNvPr id="26" name="Source model">
            <a:extLst>
              <a:ext uri="{FF2B5EF4-FFF2-40B4-BE49-F238E27FC236}">
                <a16:creationId xmlns:a16="http://schemas.microsoft.com/office/drawing/2014/main" id="{ADD7E9E4-87D7-4EDB-9C75-70C96A653957}"/>
              </a:ext>
            </a:extLst>
          </p:cNvPr>
          <p:cNvSpPr txBox="1"/>
          <p:nvPr/>
        </p:nvSpPr>
        <p:spPr>
          <a:xfrm>
            <a:off x="2674419" y="6345938"/>
            <a:ext cx="3590727" cy="1179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 lang="en-US" sz="3500" dirty="0">
                <a:solidFill>
                  <a:srgbClr val="00B050"/>
                </a:solidFill>
              </a:rPr>
              <a:t>RR,WR,WW,RW </a:t>
            </a:r>
          </a:p>
          <a:p>
            <a:pPr algn="l"/>
            <a:r>
              <a:rPr lang="en-US" sz="3500" dirty="0">
                <a:solidFill>
                  <a:srgbClr val="00B050"/>
                </a:solidFill>
              </a:rPr>
              <a:t>Load introduction</a:t>
            </a:r>
            <a:endParaRPr sz="3500" dirty="0">
              <a:solidFill>
                <a:srgbClr val="00B050"/>
              </a:solidFill>
            </a:endParaRPr>
          </a:p>
        </p:txBody>
      </p:sp>
      <p:pic>
        <p:nvPicPr>
          <p:cNvPr id="27" name="Line Shape" descr="Line Shape">
            <a:extLst>
              <a:ext uri="{FF2B5EF4-FFF2-40B4-BE49-F238E27FC236}">
                <a16:creationId xmlns:a16="http://schemas.microsoft.com/office/drawing/2014/main" id="{B4168661-A3D4-4C37-800C-715554AC6D1D}"/>
              </a:ext>
            </a:extLst>
          </p:cNvPr>
          <p:cNvPicPr>
            <a:picLocks/>
          </p:cNvPicPr>
          <p:nvPr/>
        </p:nvPicPr>
        <p:blipFill>
          <a:blip r:embed="rId3">
            <a:biLevel thresh="75000"/>
            <a:extLst/>
          </a:blip>
          <a:stretch>
            <a:fillRect/>
          </a:stretch>
        </p:blipFill>
        <p:spPr>
          <a:xfrm flipH="1">
            <a:off x="6265146" y="5982357"/>
            <a:ext cx="2682864" cy="2663767"/>
          </a:xfrm>
          <a:prstGeom prst="rect">
            <a:avLst/>
          </a:prstGeom>
        </p:spPr>
      </p:pic>
      <p:sp>
        <p:nvSpPr>
          <p:cNvPr id="29" name="Dingbat Check">
            <a:extLst>
              <a:ext uri="{FF2B5EF4-FFF2-40B4-BE49-F238E27FC236}">
                <a16:creationId xmlns:a16="http://schemas.microsoft.com/office/drawing/2014/main" id="{07E76124-C893-4271-8BBA-F697864B5B4D}"/>
              </a:ext>
            </a:extLst>
          </p:cNvPr>
          <p:cNvSpPr/>
          <p:nvPr/>
        </p:nvSpPr>
        <p:spPr>
          <a:xfrm>
            <a:off x="2186914" y="6448282"/>
            <a:ext cx="466976" cy="4389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2" h="20404" extrusionOk="0">
                <a:moveTo>
                  <a:pt x="19340" y="6"/>
                </a:moveTo>
                <a:cubicBezTo>
                  <a:pt x="18911" y="-308"/>
                  <a:pt x="8317" y="11620"/>
                  <a:pt x="6423" y="13985"/>
                </a:cubicBezTo>
                <a:cubicBezTo>
                  <a:pt x="6323" y="14108"/>
                  <a:pt x="6215" y="14226"/>
                  <a:pt x="6090" y="14370"/>
                </a:cubicBezTo>
                <a:cubicBezTo>
                  <a:pt x="5960" y="14216"/>
                  <a:pt x="5854" y="14096"/>
                  <a:pt x="5755" y="13971"/>
                </a:cubicBezTo>
                <a:cubicBezTo>
                  <a:pt x="4964" y="12967"/>
                  <a:pt x="4458" y="12167"/>
                  <a:pt x="3657" y="11171"/>
                </a:cubicBezTo>
                <a:cubicBezTo>
                  <a:pt x="3337" y="10773"/>
                  <a:pt x="2972" y="10410"/>
                  <a:pt x="2634" y="10026"/>
                </a:cubicBezTo>
                <a:cubicBezTo>
                  <a:pt x="2472" y="9843"/>
                  <a:pt x="2283" y="9849"/>
                  <a:pt x="2071" y="9915"/>
                </a:cubicBezTo>
                <a:cubicBezTo>
                  <a:pt x="1856" y="9981"/>
                  <a:pt x="1574" y="9982"/>
                  <a:pt x="1303" y="10152"/>
                </a:cubicBezTo>
                <a:cubicBezTo>
                  <a:pt x="1209" y="10262"/>
                  <a:pt x="1332" y="10438"/>
                  <a:pt x="1349" y="10609"/>
                </a:cubicBezTo>
                <a:cubicBezTo>
                  <a:pt x="1369" y="10821"/>
                  <a:pt x="603" y="10792"/>
                  <a:pt x="203" y="11061"/>
                </a:cubicBezTo>
                <a:cubicBezTo>
                  <a:pt x="111" y="11123"/>
                  <a:pt x="286" y="11375"/>
                  <a:pt x="227" y="11440"/>
                </a:cubicBezTo>
                <a:cubicBezTo>
                  <a:pt x="51" y="11634"/>
                  <a:pt x="-61" y="11588"/>
                  <a:pt x="36" y="11826"/>
                </a:cubicBezTo>
                <a:cubicBezTo>
                  <a:pt x="896" y="13941"/>
                  <a:pt x="2182" y="15733"/>
                  <a:pt x="3218" y="17879"/>
                </a:cubicBezTo>
                <a:cubicBezTo>
                  <a:pt x="4865" y="21292"/>
                  <a:pt x="5178" y="19166"/>
                  <a:pt x="5654" y="19575"/>
                </a:cubicBezTo>
                <a:cubicBezTo>
                  <a:pt x="7119" y="20836"/>
                  <a:pt x="6474" y="21179"/>
                  <a:pt x="9921" y="16770"/>
                </a:cubicBezTo>
                <a:cubicBezTo>
                  <a:pt x="11378" y="14721"/>
                  <a:pt x="19009" y="5203"/>
                  <a:pt x="20710" y="3334"/>
                </a:cubicBezTo>
                <a:cubicBezTo>
                  <a:pt x="20919" y="3106"/>
                  <a:pt x="21118" y="2879"/>
                  <a:pt x="21258" y="2594"/>
                </a:cubicBezTo>
                <a:cubicBezTo>
                  <a:pt x="21526" y="2050"/>
                  <a:pt x="21539" y="2066"/>
                  <a:pt x="21150" y="1624"/>
                </a:cubicBezTo>
                <a:cubicBezTo>
                  <a:pt x="21006" y="1461"/>
                  <a:pt x="20856" y="1427"/>
                  <a:pt x="20646" y="1437"/>
                </a:cubicBezTo>
                <a:cubicBezTo>
                  <a:pt x="20244" y="1456"/>
                  <a:pt x="20044" y="1227"/>
                  <a:pt x="20086" y="860"/>
                </a:cubicBezTo>
                <a:cubicBezTo>
                  <a:pt x="20096" y="778"/>
                  <a:pt x="20075" y="672"/>
                  <a:pt x="20023" y="612"/>
                </a:cubicBezTo>
                <a:cubicBezTo>
                  <a:pt x="19903" y="469"/>
                  <a:pt x="19492" y="117"/>
                  <a:pt x="19340" y="6"/>
                </a:cubicBezTo>
                <a:close/>
              </a:path>
            </a:pathLst>
          </a:cu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" name="Dingbat Check">
            <a:extLst>
              <a:ext uri="{FF2B5EF4-FFF2-40B4-BE49-F238E27FC236}">
                <a16:creationId xmlns:a16="http://schemas.microsoft.com/office/drawing/2014/main" id="{C77976B6-82DE-48EC-AAE4-83EE77B414A9}"/>
              </a:ext>
            </a:extLst>
          </p:cNvPr>
          <p:cNvSpPr/>
          <p:nvPr/>
        </p:nvSpPr>
        <p:spPr>
          <a:xfrm>
            <a:off x="2203849" y="7007081"/>
            <a:ext cx="466976" cy="4389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2" h="20404" extrusionOk="0">
                <a:moveTo>
                  <a:pt x="19340" y="6"/>
                </a:moveTo>
                <a:cubicBezTo>
                  <a:pt x="18911" y="-308"/>
                  <a:pt x="8317" y="11620"/>
                  <a:pt x="6423" y="13985"/>
                </a:cubicBezTo>
                <a:cubicBezTo>
                  <a:pt x="6323" y="14108"/>
                  <a:pt x="6215" y="14226"/>
                  <a:pt x="6090" y="14370"/>
                </a:cubicBezTo>
                <a:cubicBezTo>
                  <a:pt x="5960" y="14216"/>
                  <a:pt x="5854" y="14096"/>
                  <a:pt x="5755" y="13971"/>
                </a:cubicBezTo>
                <a:cubicBezTo>
                  <a:pt x="4964" y="12967"/>
                  <a:pt x="4458" y="12167"/>
                  <a:pt x="3657" y="11171"/>
                </a:cubicBezTo>
                <a:cubicBezTo>
                  <a:pt x="3337" y="10773"/>
                  <a:pt x="2972" y="10410"/>
                  <a:pt x="2634" y="10026"/>
                </a:cubicBezTo>
                <a:cubicBezTo>
                  <a:pt x="2472" y="9843"/>
                  <a:pt x="2283" y="9849"/>
                  <a:pt x="2071" y="9915"/>
                </a:cubicBezTo>
                <a:cubicBezTo>
                  <a:pt x="1856" y="9981"/>
                  <a:pt x="1574" y="9982"/>
                  <a:pt x="1303" y="10152"/>
                </a:cubicBezTo>
                <a:cubicBezTo>
                  <a:pt x="1209" y="10262"/>
                  <a:pt x="1332" y="10438"/>
                  <a:pt x="1349" y="10609"/>
                </a:cubicBezTo>
                <a:cubicBezTo>
                  <a:pt x="1369" y="10821"/>
                  <a:pt x="603" y="10792"/>
                  <a:pt x="203" y="11061"/>
                </a:cubicBezTo>
                <a:cubicBezTo>
                  <a:pt x="111" y="11123"/>
                  <a:pt x="286" y="11375"/>
                  <a:pt x="227" y="11440"/>
                </a:cubicBezTo>
                <a:cubicBezTo>
                  <a:pt x="51" y="11634"/>
                  <a:pt x="-61" y="11588"/>
                  <a:pt x="36" y="11826"/>
                </a:cubicBezTo>
                <a:cubicBezTo>
                  <a:pt x="896" y="13941"/>
                  <a:pt x="2182" y="15733"/>
                  <a:pt x="3218" y="17879"/>
                </a:cubicBezTo>
                <a:cubicBezTo>
                  <a:pt x="4865" y="21292"/>
                  <a:pt x="5178" y="19166"/>
                  <a:pt x="5654" y="19575"/>
                </a:cubicBezTo>
                <a:cubicBezTo>
                  <a:pt x="7119" y="20836"/>
                  <a:pt x="6474" y="21179"/>
                  <a:pt x="9921" y="16770"/>
                </a:cubicBezTo>
                <a:cubicBezTo>
                  <a:pt x="11378" y="14721"/>
                  <a:pt x="19009" y="5203"/>
                  <a:pt x="20710" y="3334"/>
                </a:cubicBezTo>
                <a:cubicBezTo>
                  <a:pt x="20919" y="3106"/>
                  <a:pt x="21118" y="2879"/>
                  <a:pt x="21258" y="2594"/>
                </a:cubicBezTo>
                <a:cubicBezTo>
                  <a:pt x="21526" y="2050"/>
                  <a:pt x="21539" y="2066"/>
                  <a:pt x="21150" y="1624"/>
                </a:cubicBezTo>
                <a:cubicBezTo>
                  <a:pt x="21006" y="1461"/>
                  <a:pt x="20856" y="1427"/>
                  <a:pt x="20646" y="1437"/>
                </a:cubicBezTo>
                <a:cubicBezTo>
                  <a:pt x="20244" y="1456"/>
                  <a:pt x="20044" y="1227"/>
                  <a:pt x="20086" y="860"/>
                </a:cubicBezTo>
                <a:cubicBezTo>
                  <a:pt x="20096" y="778"/>
                  <a:pt x="20075" y="672"/>
                  <a:pt x="20023" y="612"/>
                </a:cubicBezTo>
                <a:cubicBezTo>
                  <a:pt x="19903" y="469"/>
                  <a:pt x="19492" y="117"/>
                  <a:pt x="19340" y="6"/>
                </a:cubicBezTo>
                <a:close/>
              </a:path>
            </a:pathLst>
          </a:cu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" name="Line">
            <a:extLst>
              <a:ext uri="{FF2B5EF4-FFF2-40B4-BE49-F238E27FC236}">
                <a16:creationId xmlns:a16="http://schemas.microsoft.com/office/drawing/2014/main" id="{7EF131AF-BAF4-4BF7-96D6-18C28A501DE2}"/>
              </a:ext>
            </a:extLst>
          </p:cNvPr>
          <p:cNvSpPr/>
          <p:nvPr/>
        </p:nvSpPr>
        <p:spPr>
          <a:xfrm flipH="1">
            <a:off x="15614519" y="5674490"/>
            <a:ext cx="14949" cy="1783503"/>
          </a:xfrm>
          <a:prstGeom prst="line">
            <a:avLst/>
          </a:prstGeom>
          <a:ln w="2032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Line">
            <a:extLst>
              <a:ext uri="{FF2B5EF4-FFF2-40B4-BE49-F238E27FC236}">
                <a16:creationId xmlns:a16="http://schemas.microsoft.com/office/drawing/2014/main" id="{BF3ED3B5-966F-40C7-AB96-A6DA0D20DD4B}"/>
              </a:ext>
            </a:extLst>
          </p:cNvPr>
          <p:cNvSpPr/>
          <p:nvPr/>
        </p:nvSpPr>
        <p:spPr>
          <a:xfrm flipH="1">
            <a:off x="9467358" y="5674490"/>
            <a:ext cx="14949" cy="1821496"/>
          </a:xfrm>
          <a:prstGeom prst="line">
            <a:avLst/>
          </a:prstGeom>
          <a:ln w="2032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Dingbat X">
            <a:extLst>
              <a:ext uri="{FF2B5EF4-FFF2-40B4-BE49-F238E27FC236}">
                <a16:creationId xmlns:a16="http://schemas.microsoft.com/office/drawing/2014/main" id="{C411855D-255C-4F1E-A513-EA7BDD60711A}"/>
              </a:ext>
            </a:extLst>
          </p:cNvPr>
          <p:cNvSpPr/>
          <p:nvPr/>
        </p:nvSpPr>
        <p:spPr>
          <a:xfrm>
            <a:off x="18908226" y="6921926"/>
            <a:ext cx="398958" cy="4355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4" h="21548" extrusionOk="0">
                <a:moveTo>
                  <a:pt x="18655" y="0"/>
                </a:moveTo>
                <a:cubicBezTo>
                  <a:pt x="18494" y="5"/>
                  <a:pt x="18333" y="109"/>
                  <a:pt x="18066" y="314"/>
                </a:cubicBezTo>
                <a:cubicBezTo>
                  <a:pt x="15478" y="2289"/>
                  <a:pt x="13027" y="4381"/>
                  <a:pt x="10727" y="6600"/>
                </a:cubicBezTo>
                <a:cubicBezTo>
                  <a:pt x="10587" y="6735"/>
                  <a:pt x="10434" y="6862"/>
                  <a:pt x="10258" y="7020"/>
                </a:cubicBezTo>
                <a:cubicBezTo>
                  <a:pt x="10102" y="6832"/>
                  <a:pt x="9974" y="6685"/>
                  <a:pt x="9856" y="6533"/>
                </a:cubicBezTo>
                <a:cubicBezTo>
                  <a:pt x="8908" y="5315"/>
                  <a:pt x="7971" y="4091"/>
                  <a:pt x="7009" y="2882"/>
                </a:cubicBezTo>
                <a:cubicBezTo>
                  <a:pt x="6625" y="2399"/>
                  <a:pt x="6178" y="1951"/>
                  <a:pt x="5769" y="1483"/>
                </a:cubicBezTo>
                <a:cubicBezTo>
                  <a:pt x="5573" y="1260"/>
                  <a:pt x="5327" y="1254"/>
                  <a:pt x="5044" y="1314"/>
                </a:cubicBezTo>
                <a:cubicBezTo>
                  <a:pt x="4759" y="1375"/>
                  <a:pt x="4593" y="1540"/>
                  <a:pt x="4590" y="1770"/>
                </a:cubicBezTo>
                <a:cubicBezTo>
                  <a:pt x="4583" y="2129"/>
                  <a:pt x="4349" y="2291"/>
                  <a:pt x="3989" y="2389"/>
                </a:cubicBezTo>
                <a:cubicBezTo>
                  <a:pt x="3741" y="2232"/>
                  <a:pt x="3498" y="2079"/>
                  <a:pt x="3221" y="1904"/>
                </a:cubicBezTo>
                <a:cubicBezTo>
                  <a:pt x="2922" y="2176"/>
                  <a:pt x="2660" y="2427"/>
                  <a:pt x="2382" y="2665"/>
                </a:cubicBezTo>
                <a:cubicBezTo>
                  <a:pt x="2135" y="2876"/>
                  <a:pt x="2125" y="3090"/>
                  <a:pt x="2231" y="3371"/>
                </a:cubicBezTo>
                <a:cubicBezTo>
                  <a:pt x="3179" y="5877"/>
                  <a:pt x="4394" y="8283"/>
                  <a:pt x="5880" y="10593"/>
                </a:cubicBezTo>
                <a:cubicBezTo>
                  <a:pt x="5956" y="10712"/>
                  <a:pt x="6024" y="10835"/>
                  <a:pt x="6094" y="10951"/>
                </a:cubicBezTo>
                <a:cubicBezTo>
                  <a:pt x="4046" y="12991"/>
                  <a:pt x="2019" y="15012"/>
                  <a:pt x="0" y="17024"/>
                </a:cubicBezTo>
                <a:cubicBezTo>
                  <a:pt x="166" y="17359"/>
                  <a:pt x="297" y="17644"/>
                  <a:pt x="450" y="17921"/>
                </a:cubicBezTo>
                <a:cubicBezTo>
                  <a:pt x="559" y="18117"/>
                  <a:pt x="570" y="18299"/>
                  <a:pt x="443" y="18491"/>
                </a:cubicBezTo>
                <a:cubicBezTo>
                  <a:pt x="355" y="18625"/>
                  <a:pt x="277" y="18763"/>
                  <a:pt x="214" y="18906"/>
                </a:cubicBezTo>
                <a:cubicBezTo>
                  <a:pt x="179" y="18986"/>
                  <a:pt x="139" y="19096"/>
                  <a:pt x="175" y="19164"/>
                </a:cubicBezTo>
                <a:cubicBezTo>
                  <a:pt x="462" y="19717"/>
                  <a:pt x="876" y="20186"/>
                  <a:pt x="1406" y="20550"/>
                </a:cubicBezTo>
                <a:cubicBezTo>
                  <a:pt x="1668" y="20457"/>
                  <a:pt x="1862" y="20370"/>
                  <a:pt x="2068" y="20319"/>
                </a:cubicBezTo>
                <a:cubicBezTo>
                  <a:pt x="2305" y="20259"/>
                  <a:pt x="2506" y="20384"/>
                  <a:pt x="2432" y="20567"/>
                </a:cubicBezTo>
                <a:cubicBezTo>
                  <a:pt x="2271" y="20967"/>
                  <a:pt x="2606" y="21165"/>
                  <a:pt x="2838" y="21403"/>
                </a:cubicBezTo>
                <a:cubicBezTo>
                  <a:pt x="3027" y="21596"/>
                  <a:pt x="3335" y="21593"/>
                  <a:pt x="3548" y="21414"/>
                </a:cubicBezTo>
                <a:cubicBezTo>
                  <a:pt x="3624" y="21350"/>
                  <a:pt x="3679" y="21268"/>
                  <a:pt x="3745" y="21195"/>
                </a:cubicBezTo>
                <a:cubicBezTo>
                  <a:pt x="5406" y="19353"/>
                  <a:pt x="7068" y="17510"/>
                  <a:pt x="8732" y="15669"/>
                </a:cubicBezTo>
                <a:cubicBezTo>
                  <a:pt x="8850" y="15538"/>
                  <a:pt x="8982" y="15417"/>
                  <a:pt x="9151" y="15248"/>
                </a:cubicBezTo>
                <a:cubicBezTo>
                  <a:pt x="9312" y="15457"/>
                  <a:pt x="9442" y="15618"/>
                  <a:pt x="9566" y="15782"/>
                </a:cubicBezTo>
                <a:cubicBezTo>
                  <a:pt x="10552" y="17091"/>
                  <a:pt x="11622" y="18348"/>
                  <a:pt x="12799" y="19538"/>
                </a:cubicBezTo>
                <a:cubicBezTo>
                  <a:pt x="13137" y="19880"/>
                  <a:pt x="13363" y="19913"/>
                  <a:pt x="13764" y="19639"/>
                </a:cubicBezTo>
                <a:cubicBezTo>
                  <a:pt x="14071" y="19429"/>
                  <a:pt x="14340" y="19181"/>
                  <a:pt x="14638" y="18942"/>
                </a:cubicBezTo>
                <a:cubicBezTo>
                  <a:pt x="14977" y="19118"/>
                  <a:pt x="15325" y="19299"/>
                  <a:pt x="15670" y="19479"/>
                </a:cubicBezTo>
                <a:cubicBezTo>
                  <a:pt x="15874" y="19336"/>
                  <a:pt x="16024" y="19228"/>
                  <a:pt x="16179" y="19123"/>
                </a:cubicBezTo>
                <a:cubicBezTo>
                  <a:pt x="16407" y="18969"/>
                  <a:pt x="16586" y="18817"/>
                  <a:pt x="16625" y="18532"/>
                </a:cubicBezTo>
                <a:cubicBezTo>
                  <a:pt x="16663" y="18245"/>
                  <a:pt x="16848" y="17980"/>
                  <a:pt x="17238" y="17893"/>
                </a:cubicBezTo>
                <a:cubicBezTo>
                  <a:pt x="17537" y="17826"/>
                  <a:pt x="17736" y="17646"/>
                  <a:pt x="17893" y="17435"/>
                </a:cubicBezTo>
                <a:cubicBezTo>
                  <a:pt x="18144" y="17098"/>
                  <a:pt x="18337" y="16737"/>
                  <a:pt x="18424" y="16377"/>
                </a:cubicBezTo>
                <a:cubicBezTo>
                  <a:pt x="16705" y="14528"/>
                  <a:pt x="15014" y="12708"/>
                  <a:pt x="13308" y="10873"/>
                </a:cubicBezTo>
                <a:cubicBezTo>
                  <a:pt x="13494" y="10665"/>
                  <a:pt x="13612" y="10530"/>
                  <a:pt x="13734" y="10397"/>
                </a:cubicBezTo>
                <a:cubicBezTo>
                  <a:pt x="15805" y="8137"/>
                  <a:pt x="18039" y="6000"/>
                  <a:pt x="20413" y="3968"/>
                </a:cubicBezTo>
                <a:cubicBezTo>
                  <a:pt x="20703" y="3719"/>
                  <a:pt x="20983" y="3471"/>
                  <a:pt x="21190" y="3153"/>
                </a:cubicBezTo>
                <a:cubicBezTo>
                  <a:pt x="21585" y="2544"/>
                  <a:pt x="21600" y="2565"/>
                  <a:pt x="21129" y="2026"/>
                </a:cubicBezTo>
                <a:cubicBezTo>
                  <a:pt x="20955" y="1827"/>
                  <a:pt x="20762" y="1776"/>
                  <a:pt x="20487" y="1772"/>
                </a:cubicBezTo>
                <a:cubicBezTo>
                  <a:pt x="19961" y="1764"/>
                  <a:pt x="19720" y="1486"/>
                  <a:pt x="19806" y="1064"/>
                </a:cubicBezTo>
                <a:cubicBezTo>
                  <a:pt x="19825" y="971"/>
                  <a:pt x="19804" y="847"/>
                  <a:pt x="19743" y="773"/>
                </a:cubicBezTo>
                <a:cubicBezTo>
                  <a:pt x="19597" y="599"/>
                  <a:pt x="19434" y="429"/>
                  <a:pt x="19245" y="289"/>
                </a:cubicBezTo>
                <a:cubicBezTo>
                  <a:pt x="18978" y="92"/>
                  <a:pt x="18816" y="-4"/>
                  <a:pt x="18655" y="0"/>
                </a:cubicBezTo>
                <a:close/>
              </a:path>
            </a:pathLst>
          </a:cu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Dingbat Check">
            <a:extLst>
              <a:ext uri="{FF2B5EF4-FFF2-40B4-BE49-F238E27FC236}">
                <a16:creationId xmlns:a16="http://schemas.microsoft.com/office/drawing/2014/main" id="{2DEE4D47-FD9F-41B5-9293-CEEF22D8A3C5}"/>
              </a:ext>
            </a:extLst>
          </p:cNvPr>
          <p:cNvSpPr/>
          <p:nvPr/>
        </p:nvSpPr>
        <p:spPr>
          <a:xfrm>
            <a:off x="18848934" y="6342428"/>
            <a:ext cx="466976" cy="4389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2" h="20404" extrusionOk="0">
                <a:moveTo>
                  <a:pt x="19340" y="6"/>
                </a:moveTo>
                <a:cubicBezTo>
                  <a:pt x="18911" y="-308"/>
                  <a:pt x="8317" y="11620"/>
                  <a:pt x="6423" y="13985"/>
                </a:cubicBezTo>
                <a:cubicBezTo>
                  <a:pt x="6323" y="14108"/>
                  <a:pt x="6215" y="14226"/>
                  <a:pt x="6090" y="14370"/>
                </a:cubicBezTo>
                <a:cubicBezTo>
                  <a:pt x="5960" y="14216"/>
                  <a:pt x="5854" y="14096"/>
                  <a:pt x="5755" y="13971"/>
                </a:cubicBezTo>
                <a:cubicBezTo>
                  <a:pt x="4964" y="12967"/>
                  <a:pt x="4458" y="12167"/>
                  <a:pt x="3657" y="11171"/>
                </a:cubicBezTo>
                <a:cubicBezTo>
                  <a:pt x="3337" y="10773"/>
                  <a:pt x="2972" y="10410"/>
                  <a:pt x="2634" y="10026"/>
                </a:cubicBezTo>
                <a:cubicBezTo>
                  <a:pt x="2472" y="9843"/>
                  <a:pt x="2283" y="9849"/>
                  <a:pt x="2071" y="9915"/>
                </a:cubicBezTo>
                <a:cubicBezTo>
                  <a:pt x="1856" y="9981"/>
                  <a:pt x="1574" y="9982"/>
                  <a:pt x="1303" y="10152"/>
                </a:cubicBezTo>
                <a:cubicBezTo>
                  <a:pt x="1209" y="10262"/>
                  <a:pt x="1332" y="10438"/>
                  <a:pt x="1349" y="10609"/>
                </a:cubicBezTo>
                <a:cubicBezTo>
                  <a:pt x="1369" y="10821"/>
                  <a:pt x="603" y="10792"/>
                  <a:pt x="203" y="11061"/>
                </a:cubicBezTo>
                <a:cubicBezTo>
                  <a:pt x="111" y="11123"/>
                  <a:pt x="286" y="11375"/>
                  <a:pt x="227" y="11440"/>
                </a:cubicBezTo>
                <a:cubicBezTo>
                  <a:pt x="51" y="11634"/>
                  <a:pt x="-61" y="11588"/>
                  <a:pt x="36" y="11826"/>
                </a:cubicBezTo>
                <a:cubicBezTo>
                  <a:pt x="896" y="13941"/>
                  <a:pt x="2182" y="15733"/>
                  <a:pt x="3218" y="17879"/>
                </a:cubicBezTo>
                <a:cubicBezTo>
                  <a:pt x="4865" y="21292"/>
                  <a:pt x="5178" y="19166"/>
                  <a:pt x="5654" y="19575"/>
                </a:cubicBezTo>
                <a:cubicBezTo>
                  <a:pt x="7119" y="20836"/>
                  <a:pt x="6474" y="21179"/>
                  <a:pt x="9921" y="16770"/>
                </a:cubicBezTo>
                <a:cubicBezTo>
                  <a:pt x="11378" y="14721"/>
                  <a:pt x="19009" y="5203"/>
                  <a:pt x="20710" y="3334"/>
                </a:cubicBezTo>
                <a:cubicBezTo>
                  <a:pt x="20919" y="3106"/>
                  <a:pt x="21118" y="2879"/>
                  <a:pt x="21258" y="2594"/>
                </a:cubicBezTo>
                <a:cubicBezTo>
                  <a:pt x="21526" y="2050"/>
                  <a:pt x="21539" y="2066"/>
                  <a:pt x="21150" y="1624"/>
                </a:cubicBezTo>
                <a:cubicBezTo>
                  <a:pt x="21006" y="1461"/>
                  <a:pt x="20856" y="1427"/>
                  <a:pt x="20646" y="1437"/>
                </a:cubicBezTo>
                <a:cubicBezTo>
                  <a:pt x="20244" y="1456"/>
                  <a:pt x="20044" y="1227"/>
                  <a:pt x="20086" y="860"/>
                </a:cubicBezTo>
                <a:cubicBezTo>
                  <a:pt x="20096" y="778"/>
                  <a:pt x="20075" y="672"/>
                  <a:pt x="20023" y="612"/>
                </a:cubicBezTo>
                <a:cubicBezTo>
                  <a:pt x="19903" y="469"/>
                  <a:pt x="19492" y="117"/>
                  <a:pt x="19340" y="6"/>
                </a:cubicBezTo>
                <a:close/>
              </a:path>
            </a:pathLst>
          </a:cu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" name="Source model">
            <a:extLst>
              <a:ext uri="{FF2B5EF4-FFF2-40B4-BE49-F238E27FC236}">
                <a16:creationId xmlns:a16="http://schemas.microsoft.com/office/drawing/2014/main" id="{5259438D-1C6E-4B43-B0AD-A68ECF1B60E4}"/>
              </a:ext>
            </a:extLst>
          </p:cNvPr>
          <p:cNvSpPr txBox="1"/>
          <p:nvPr/>
        </p:nvSpPr>
        <p:spPr>
          <a:xfrm>
            <a:off x="19342257" y="6224880"/>
            <a:ext cx="2593659" cy="1179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 lang="en-US" sz="3500" dirty="0">
                <a:solidFill>
                  <a:schemeClr val="accent3">
                    <a:lumMod val="75000"/>
                  </a:schemeClr>
                </a:solidFill>
              </a:rPr>
              <a:t>RR,WR,WW</a:t>
            </a:r>
            <a:endParaRPr lang="en-US" sz="3500" dirty="0">
              <a:solidFill>
                <a:srgbClr val="0070C0"/>
              </a:solidFill>
            </a:endParaRPr>
          </a:p>
          <a:p>
            <a:pPr algn="l"/>
            <a:r>
              <a:rPr lang="en-US" sz="3500" dirty="0">
                <a:solidFill>
                  <a:srgbClr val="FF0000"/>
                </a:solidFill>
              </a:rPr>
              <a:t>RW</a:t>
            </a:r>
            <a:endParaRPr sz="3500" dirty="0">
              <a:solidFill>
                <a:srgbClr val="FF0000"/>
              </a:solidFill>
            </a:endParaRPr>
          </a:p>
        </p:txBody>
      </p:sp>
      <p:pic>
        <p:nvPicPr>
          <p:cNvPr id="51" name="Line Shape" descr="Line Shape">
            <a:extLst>
              <a:ext uri="{FF2B5EF4-FFF2-40B4-BE49-F238E27FC236}">
                <a16:creationId xmlns:a16="http://schemas.microsoft.com/office/drawing/2014/main" id="{D9E276CC-F134-43C4-9EBD-3EC2AE10C0A2}"/>
              </a:ext>
            </a:extLst>
          </p:cNvPr>
          <p:cNvPicPr>
            <a:picLocks/>
          </p:cNvPicPr>
          <p:nvPr/>
        </p:nvPicPr>
        <p:blipFill>
          <a:blip r:embed="rId3">
            <a:biLevel thresh="75000"/>
            <a:extLst/>
          </a:blip>
          <a:stretch>
            <a:fillRect/>
          </a:stretch>
        </p:blipFill>
        <p:spPr>
          <a:xfrm>
            <a:off x="16038682" y="6007381"/>
            <a:ext cx="2682863" cy="2663767"/>
          </a:xfrm>
          <a:prstGeom prst="rect">
            <a:avLst/>
          </a:prstGeom>
        </p:spPr>
      </p:pic>
      <p:sp>
        <p:nvSpPr>
          <p:cNvPr id="52" name="out-of-order…">
            <a:extLst>
              <a:ext uri="{FF2B5EF4-FFF2-40B4-BE49-F238E27FC236}">
                <a16:creationId xmlns:a16="http://schemas.microsoft.com/office/drawing/2014/main" id="{F86D7EFF-A772-4246-8D31-7F90AA0FD9F0}"/>
              </a:ext>
            </a:extLst>
          </p:cNvPr>
          <p:cNvSpPr/>
          <p:nvPr/>
        </p:nvSpPr>
        <p:spPr>
          <a:xfrm>
            <a:off x="19052260" y="7720907"/>
            <a:ext cx="3173651" cy="1179811"/>
          </a:xfrm>
          <a:prstGeom prst="wedgeEllipseCallout">
            <a:avLst>
              <a:gd name="adj1" fmla="val -27513"/>
              <a:gd name="adj2" fmla="val -89957"/>
            </a:avLst>
          </a:prstGeom>
          <a:solidFill>
            <a:schemeClr val="accent3">
              <a:lumMod val="7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dirty="0"/>
              <a:t>OK</a:t>
            </a:r>
            <a:endParaRPr dirty="0"/>
          </a:p>
        </p:txBody>
      </p:sp>
      <p:sp>
        <p:nvSpPr>
          <p:cNvPr id="53" name="out-of-order…">
            <a:extLst>
              <a:ext uri="{FF2B5EF4-FFF2-40B4-BE49-F238E27FC236}">
                <a16:creationId xmlns:a16="http://schemas.microsoft.com/office/drawing/2014/main" id="{17235D44-3F47-423E-9366-C712158C75DD}"/>
              </a:ext>
            </a:extLst>
          </p:cNvPr>
          <p:cNvSpPr/>
          <p:nvPr/>
        </p:nvSpPr>
        <p:spPr>
          <a:xfrm>
            <a:off x="1448872" y="8663807"/>
            <a:ext cx="3173651" cy="1179811"/>
          </a:xfrm>
          <a:prstGeom prst="wedgeEllipseCallout">
            <a:avLst>
              <a:gd name="adj1" fmla="val 25843"/>
              <a:gd name="adj2" fmla="val -145932"/>
            </a:avLst>
          </a:prstGeom>
          <a:solidFill>
            <a:schemeClr val="accent3">
              <a:lumMod val="7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dirty="0"/>
              <a:t>OK</a:t>
            </a:r>
            <a:endParaRPr dirty="0"/>
          </a:p>
        </p:txBody>
      </p:sp>
      <p:sp>
        <p:nvSpPr>
          <p:cNvPr id="54" name="Line">
            <a:extLst>
              <a:ext uri="{FF2B5EF4-FFF2-40B4-BE49-F238E27FC236}">
                <a16:creationId xmlns:a16="http://schemas.microsoft.com/office/drawing/2014/main" id="{BAF7D485-6595-488B-9A1E-2B81C9863736}"/>
              </a:ext>
            </a:extLst>
          </p:cNvPr>
          <p:cNvSpPr/>
          <p:nvPr/>
        </p:nvSpPr>
        <p:spPr>
          <a:xfrm flipH="1">
            <a:off x="15561741" y="9558511"/>
            <a:ext cx="16556" cy="1344916"/>
          </a:xfrm>
          <a:prstGeom prst="line">
            <a:avLst/>
          </a:prstGeom>
          <a:ln w="2032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" name="out-of-order…">
            <a:extLst>
              <a:ext uri="{FF2B5EF4-FFF2-40B4-BE49-F238E27FC236}">
                <a16:creationId xmlns:a16="http://schemas.microsoft.com/office/drawing/2014/main" id="{FFC57FDC-0EC2-4441-97BA-F0E16EAC6A26}"/>
              </a:ext>
            </a:extLst>
          </p:cNvPr>
          <p:cNvSpPr/>
          <p:nvPr/>
        </p:nvSpPr>
        <p:spPr>
          <a:xfrm>
            <a:off x="18045114" y="11237114"/>
            <a:ext cx="4557712" cy="1179811"/>
          </a:xfrm>
          <a:prstGeom prst="wedgeEllipseCallout">
            <a:avLst>
              <a:gd name="adj1" fmla="val -27513"/>
              <a:gd name="adj2" fmla="val -89957"/>
            </a:avLst>
          </a:prstGeom>
          <a:solidFill>
            <a:schemeClr val="accent3">
              <a:lumMod val="7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dirty="0"/>
              <a:t>OK (Why?)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49266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6" grpId="0" animBg="1"/>
      <p:bldP spid="29" grpId="0" animBg="1"/>
      <p:bldP spid="35" grpId="0" animBg="1"/>
      <p:bldP spid="48" grpId="0" animBg="1"/>
      <p:bldP spid="49" grpId="0" animBg="1"/>
      <p:bldP spid="50" grpId="0" animBg="1"/>
      <p:bldP spid="52" grpId="0" animBg="1"/>
      <p:bldP spid="53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01"/>
          <p:cNvSpPr txBox="1">
            <a:spLocks noGrp="1"/>
          </p:cNvSpPr>
          <p:nvPr>
            <p:ph type="sldNum" sz="quarter" idx="2"/>
          </p:nvPr>
        </p:nvSpPr>
        <p:spPr>
          <a:xfrm>
            <a:off x="12035993" y="13081000"/>
            <a:ext cx="312014" cy="52308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194" name="Can we model ALL relaxed behaviors with in-order executions?…"/>
          <p:cNvSpPr txBox="1">
            <a:spLocks noGrp="1"/>
          </p:cNvSpPr>
          <p:nvPr>
            <p:ph type="body" idx="1"/>
          </p:nvPr>
        </p:nvSpPr>
        <p:spPr>
          <a:xfrm>
            <a:off x="1689100" y="1120710"/>
            <a:ext cx="21005800" cy="1058361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sz="7000" dirty="0"/>
              <a:t>Observations on RW reordering in HW</a:t>
            </a:r>
          </a:p>
        </p:txBody>
      </p:sp>
    </p:spTree>
    <p:extLst>
      <p:ext uri="{BB962C8B-B14F-4D97-AF65-F5344CB8AC3E}">
        <p14:creationId xmlns:p14="http://schemas.microsoft.com/office/powerpoint/2010/main" val="249822100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Impact of Restricting Load-Store Reordering"/>
          <p:cNvSpPr txBox="1">
            <a:spLocks noGrp="1"/>
          </p:cNvSpPr>
          <p:nvPr>
            <p:ph type="title"/>
          </p:nvPr>
        </p:nvSpPr>
        <p:spPr>
          <a:xfrm>
            <a:off x="1448872" y="-24397"/>
            <a:ext cx="21486256" cy="2286001"/>
          </a:xfrm>
          <a:prstGeom prst="rect">
            <a:avLst/>
          </a:prstGeom>
        </p:spPr>
        <p:txBody>
          <a:bodyPr/>
          <a:lstStyle>
            <a:lvl1pPr defTabSz="800735">
              <a:defRPr sz="8148"/>
            </a:lvl1pPr>
          </a:lstStyle>
          <a:p>
            <a:r>
              <a:rPr dirty="0"/>
              <a:t>Impact of Restricting </a:t>
            </a:r>
            <a:r>
              <a:rPr lang="en-US" dirty="0"/>
              <a:t>RW</a:t>
            </a:r>
            <a:r>
              <a:rPr dirty="0"/>
              <a:t> Reordering</a:t>
            </a:r>
          </a:p>
        </p:txBody>
      </p:sp>
      <p:sp>
        <p:nvSpPr>
          <p:cNvPr id="36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sp>
        <p:nvSpPr>
          <p:cNvPr id="367" name="Performance impact in hardware"/>
          <p:cNvSpPr txBox="1"/>
          <p:nvPr/>
        </p:nvSpPr>
        <p:spPr>
          <a:xfrm>
            <a:off x="15294322" y="6079441"/>
            <a:ext cx="6049976" cy="1557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Performance impact</a:t>
            </a:r>
            <a:br/>
            <a:r>
              <a:t>in hardware</a:t>
            </a:r>
          </a:p>
        </p:txBody>
      </p:sp>
      <p:sp>
        <p:nvSpPr>
          <p:cNvPr id="368" name="load-load…"/>
          <p:cNvSpPr txBox="1"/>
          <p:nvPr/>
        </p:nvSpPr>
        <p:spPr>
          <a:xfrm>
            <a:off x="2428130" y="7929036"/>
            <a:ext cx="3048912" cy="231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rPr dirty="0"/>
              <a:t>load-load</a:t>
            </a:r>
          </a:p>
          <a:p>
            <a:pPr algn="l"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rPr dirty="0"/>
              <a:t>store-load</a:t>
            </a:r>
            <a:endParaRPr lang="en-US" altLang="ko-KR" dirty="0"/>
          </a:p>
          <a:p>
            <a:pPr algn="l"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rPr lang="en-US" altLang="ko-KR" dirty="0"/>
              <a:t>store-store</a:t>
            </a:r>
          </a:p>
        </p:txBody>
      </p:sp>
      <p:sp>
        <p:nvSpPr>
          <p:cNvPr id="369" name="load-store"/>
          <p:cNvSpPr txBox="1"/>
          <p:nvPr/>
        </p:nvSpPr>
        <p:spPr>
          <a:xfrm>
            <a:off x="2428333" y="10776737"/>
            <a:ext cx="2994661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r>
              <a:t>load-store</a:t>
            </a:r>
          </a:p>
        </p:txBody>
      </p:sp>
      <p:sp>
        <p:nvSpPr>
          <p:cNvPr id="370" name="Significant"/>
          <p:cNvSpPr txBox="1"/>
          <p:nvPr/>
        </p:nvSpPr>
        <p:spPr>
          <a:xfrm>
            <a:off x="16458200" y="8609691"/>
            <a:ext cx="3722219" cy="95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20000"/>
              </a:lnSpc>
              <a:defRPr sz="56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Significant</a:t>
            </a:r>
          </a:p>
        </p:txBody>
      </p:sp>
      <p:sp>
        <p:nvSpPr>
          <p:cNvPr id="371" name="Small"/>
          <p:cNvSpPr txBox="1"/>
          <p:nvPr/>
        </p:nvSpPr>
        <p:spPr>
          <a:xfrm>
            <a:off x="17321597" y="10708361"/>
            <a:ext cx="1995425" cy="95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20000"/>
              </a:lnSpc>
              <a:defRPr sz="56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Small</a:t>
            </a:r>
          </a:p>
        </p:txBody>
      </p:sp>
      <p:sp>
        <p:nvSpPr>
          <p:cNvPr id="372" name="Line"/>
          <p:cNvSpPr/>
          <p:nvPr/>
        </p:nvSpPr>
        <p:spPr>
          <a:xfrm>
            <a:off x="2388963" y="7618727"/>
            <a:ext cx="1926198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3" name="Line"/>
          <p:cNvSpPr/>
          <p:nvPr/>
        </p:nvSpPr>
        <p:spPr>
          <a:xfrm>
            <a:off x="2388963" y="10557926"/>
            <a:ext cx="1926198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4" name="Line"/>
          <p:cNvSpPr/>
          <p:nvPr/>
        </p:nvSpPr>
        <p:spPr>
          <a:xfrm flipV="1">
            <a:off x="5792563" y="6098614"/>
            <a:ext cx="1" cy="563848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5" name="Reorderings"/>
          <p:cNvSpPr txBox="1"/>
          <p:nvPr/>
        </p:nvSpPr>
        <p:spPr>
          <a:xfrm>
            <a:off x="2316269" y="6453784"/>
            <a:ext cx="342199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Reorderings</a:t>
            </a:r>
          </a:p>
        </p:txBody>
      </p:sp>
      <p:sp>
        <p:nvSpPr>
          <p:cNvPr id="376" name="Observable on Arm/Power implementations"/>
          <p:cNvSpPr txBox="1"/>
          <p:nvPr/>
        </p:nvSpPr>
        <p:spPr>
          <a:xfrm>
            <a:off x="6149865" y="6074310"/>
            <a:ext cx="8429854" cy="1557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Observable on</a:t>
            </a:r>
            <a:br/>
            <a:r>
              <a:t>Arm/Power implementations</a:t>
            </a:r>
          </a:p>
        </p:txBody>
      </p:sp>
      <p:sp>
        <p:nvSpPr>
          <p:cNvPr id="377" name="Few Arm CPUs"/>
          <p:cNvSpPr txBox="1"/>
          <p:nvPr/>
        </p:nvSpPr>
        <p:spPr>
          <a:xfrm>
            <a:off x="7555120" y="10708361"/>
            <a:ext cx="5237075" cy="95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6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Few Arm CPUs</a:t>
            </a:r>
          </a:p>
        </p:txBody>
      </p:sp>
      <p:sp>
        <p:nvSpPr>
          <p:cNvPr id="378" name="Line"/>
          <p:cNvSpPr/>
          <p:nvPr/>
        </p:nvSpPr>
        <p:spPr>
          <a:xfrm flipV="1">
            <a:off x="14937020" y="6098614"/>
            <a:ext cx="1" cy="563848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9" name="Most CPUs"/>
          <p:cNvSpPr txBox="1"/>
          <p:nvPr/>
        </p:nvSpPr>
        <p:spPr>
          <a:xfrm>
            <a:off x="8206579" y="8609692"/>
            <a:ext cx="3934156" cy="95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6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Most CPUs</a:t>
            </a:r>
          </a:p>
        </p:txBody>
      </p:sp>
      <p:sp>
        <p:nvSpPr>
          <p:cNvPr id="380" name="Response from Arm engineers:…"/>
          <p:cNvSpPr/>
          <p:nvPr/>
        </p:nvSpPr>
        <p:spPr>
          <a:xfrm>
            <a:off x="2611808" y="2417132"/>
            <a:ext cx="19160384" cy="2882497"/>
          </a:xfrm>
          <a:prstGeom prst="rect">
            <a:avLst/>
          </a:prstGeom>
          <a:solidFill>
            <a:srgbClr val="FFF9B5"/>
          </a:solidFill>
          <a:ln w="1016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>
              <a:lnSpc>
                <a:spcPct val="120000"/>
              </a:lnSpc>
              <a:defRPr sz="5200" b="1">
                <a:solidFill>
                  <a:schemeClr val="accent5">
                    <a:lumOff val="-29866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/>
              <a:t>Response from Arm engineers:</a:t>
            </a:r>
          </a:p>
          <a:p>
            <a:pPr>
              <a:lnSpc>
                <a:spcPct val="120000"/>
              </a:lnSpc>
              <a:defRPr sz="5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dirty="0"/>
              <a:t>Only s</a:t>
            </a:r>
            <a:r>
              <a:rPr dirty="0"/>
              <a:t>mall performance benefit of load-store reordering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" grpId="1" animBg="1" advAuto="0"/>
      <p:bldP spid="370" grpId="2" animBg="1" advAuto="0"/>
      <p:bldP spid="371" grpId="3" animBg="1" advAuto="0"/>
      <p:bldP spid="378" grpId="4" animBg="1" advAuto="0"/>
      <p:bldP spid="380" grpId="5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Allow commit before the load’s completion…"/>
          <p:cNvSpPr txBox="1"/>
          <p:nvPr/>
        </p:nvSpPr>
        <p:spPr>
          <a:xfrm>
            <a:off x="11421123" y="8969290"/>
            <a:ext cx="12647180" cy="394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pPr marL="577850" indent="-577850" algn="l" defTabSz="751205">
              <a:spcBef>
                <a:spcPts val="2700"/>
              </a:spcBef>
              <a:buSzPct val="125000"/>
              <a:buChar char="•"/>
              <a:defRPr sz="4368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Allow commit before the load’s completion</a:t>
            </a:r>
          </a:p>
          <a:p>
            <a:pPr marL="1155700" lvl="1" indent="-577850" algn="l" defTabSz="751205">
              <a:spcBef>
                <a:spcPts val="2700"/>
              </a:spcBef>
              <a:buSzPct val="125000"/>
              <a:buChar char="-"/>
              <a:defRPr sz="4368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Load-store reordering: visible to other cores</a:t>
            </a:r>
          </a:p>
          <a:p>
            <a:pPr marL="1155700" lvl="1" indent="-577850" algn="l" defTabSz="751205">
              <a:spcBef>
                <a:spcPts val="2700"/>
              </a:spcBef>
              <a:buSzPct val="125000"/>
              <a:buChar char="-"/>
              <a:defRPr sz="4368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CPU design: </a:t>
            </a:r>
            <a:r>
              <a:rPr b="1"/>
              <a:t>increased complexity</a:t>
            </a:r>
          </a:p>
          <a:p>
            <a:pPr marL="1155700" lvl="1" indent="-577850" algn="l" defTabSz="751205">
              <a:spcBef>
                <a:spcPts val="2700"/>
              </a:spcBef>
              <a:buSzPct val="125000"/>
              <a:buChar char="-"/>
              <a:defRPr sz="4368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Performance benefit: </a:t>
            </a:r>
            <a:r>
              <a:rPr b="1"/>
              <a:t>only when buffer is full</a:t>
            </a:r>
          </a:p>
        </p:txBody>
      </p:sp>
      <p:sp>
        <p:nvSpPr>
          <p:cNvPr id="385" name="Forbid commit before the load’s completion…"/>
          <p:cNvSpPr txBox="1"/>
          <p:nvPr/>
        </p:nvSpPr>
        <p:spPr>
          <a:xfrm>
            <a:off x="11421123" y="6725473"/>
            <a:ext cx="12647180" cy="2335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577850" indent="-577850" algn="l" defTabSz="751205">
              <a:spcBef>
                <a:spcPts val="2700"/>
              </a:spcBef>
              <a:buSzPct val="125000"/>
              <a:buChar char="•"/>
              <a:defRPr sz="4368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155700" indent="-577850" algn="l" defTabSz="751205">
              <a:spcBef>
                <a:spcPts val="2700"/>
              </a:spcBef>
              <a:buSzPct val="125000"/>
              <a:buChar char="-"/>
              <a:defRPr sz="4368">
                <a:latin typeface="Helvetica Neue"/>
                <a:ea typeface="Helvetica Neue"/>
                <a:cs typeface="Helvetica Neue"/>
                <a:sym typeface="Helvetica Neue"/>
              </a:defRPr>
            </a:lvl2pPr>
          </a:lstStyle>
          <a:p>
            <a:r>
              <a:t>Forbid commit before the load’s completion</a:t>
            </a:r>
          </a:p>
          <a:p>
            <a:pPr lvl="1"/>
            <a:r>
              <a:t>Load-store reordering: invisible to other cores</a:t>
            </a:r>
          </a:p>
        </p:txBody>
      </p:sp>
      <p:sp>
        <p:nvSpPr>
          <p:cNvPr id="386" name="Why So Small Benefits?"/>
          <p:cNvSpPr txBox="1">
            <a:spLocks noGrp="1"/>
          </p:cNvSpPr>
          <p:nvPr>
            <p:ph type="title"/>
          </p:nvPr>
        </p:nvSpPr>
        <p:spPr>
          <a:xfrm>
            <a:off x="1448872" y="-24397"/>
            <a:ext cx="21486256" cy="2286001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t>Why So Small Benefits?</a:t>
            </a:r>
          </a:p>
        </p:txBody>
      </p:sp>
      <p:sp>
        <p:nvSpPr>
          <p:cNvPr id="387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sp>
        <p:nvSpPr>
          <p:cNvPr id="388" name="..."/>
          <p:cNvSpPr txBox="1"/>
          <p:nvPr/>
        </p:nvSpPr>
        <p:spPr>
          <a:xfrm rot="5400000">
            <a:off x="4392763" y="3766361"/>
            <a:ext cx="1211760" cy="86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...</a:t>
            </a:r>
          </a:p>
        </p:txBody>
      </p:sp>
      <p:sp>
        <p:nvSpPr>
          <p:cNvPr id="389" name="..."/>
          <p:cNvSpPr txBox="1"/>
          <p:nvPr/>
        </p:nvSpPr>
        <p:spPr>
          <a:xfrm rot="5400000">
            <a:off x="4392763" y="6882365"/>
            <a:ext cx="1211760" cy="863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...</a:t>
            </a:r>
          </a:p>
        </p:txBody>
      </p:sp>
      <p:graphicFrame>
        <p:nvGraphicFramePr>
          <p:cNvPr id="390" name="표 1-1"/>
          <p:cNvGraphicFramePr/>
          <p:nvPr/>
        </p:nvGraphicFramePr>
        <p:xfrm>
          <a:off x="7508716" y="4372947"/>
          <a:ext cx="2680727" cy="4105924"/>
        </p:xfrm>
        <a:graphic>
          <a:graphicData uri="http://schemas.openxmlformats.org/drawingml/2006/table">
            <a:tbl>
              <a:tblPr>
                <a:tableStyleId>{CF821DB8-F4EB-4A41-A1BA-3FCAFE7338EE}</a:tableStyleId>
              </a:tblPr>
              <a:tblGrid>
                <a:gridCol w="2680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2648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800">
                          <a:latin typeface="Monaco"/>
                          <a:ea typeface="Monaco"/>
                          <a:cs typeface="Monaco"/>
                          <a:sym typeface="Monaco"/>
                        </a:rPr>
                        <a:t>…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648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800">
                          <a:latin typeface="Monaco"/>
                          <a:ea typeface="Monaco"/>
                          <a:cs typeface="Monaco"/>
                          <a:sym typeface="Monaco"/>
                        </a:rPr>
                        <a:t>…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648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800">
                          <a:latin typeface="Monaco"/>
                          <a:ea typeface="Monaco"/>
                          <a:cs typeface="Monaco"/>
                          <a:sym typeface="Monaco"/>
                        </a:rPr>
                        <a:t>Y = 1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6481">
                <a:tc>
                  <a:txBody>
                    <a:bodyPr/>
                    <a:lstStyle/>
                    <a:p>
                      <a:pPr defTabSz="914400">
                        <a:defRPr sz="4800">
                          <a:latin typeface="Monaco"/>
                          <a:ea typeface="Monaco"/>
                          <a:cs typeface="Monaco"/>
                          <a:sym typeface="Monaco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1" name="Store buffer"/>
          <p:cNvSpPr txBox="1"/>
          <p:nvPr/>
        </p:nvSpPr>
        <p:spPr>
          <a:xfrm>
            <a:off x="7270037" y="3430629"/>
            <a:ext cx="3158085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/>
            </a:lvl1pPr>
          </a:lstStyle>
          <a:p>
            <a:r>
              <a:t>Store buffer</a:t>
            </a:r>
          </a:p>
        </p:txBody>
      </p:sp>
      <p:sp>
        <p:nvSpPr>
          <p:cNvPr id="392" name="Rounded Rectangle"/>
          <p:cNvSpPr/>
          <p:nvPr/>
        </p:nvSpPr>
        <p:spPr>
          <a:xfrm>
            <a:off x="1436975" y="2998011"/>
            <a:ext cx="9361601" cy="6039237"/>
          </a:xfrm>
          <a:prstGeom prst="roundRect">
            <a:avLst>
              <a:gd name="adj" fmla="val 13211"/>
            </a:avLst>
          </a:prstGeom>
          <a:ln w="762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3" name="A CPU core"/>
          <p:cNvSpPr txBox="1"/>
          <p:nvPr/>
        </p:nvSpPr>
        <p:spPr>
          <a:xfrm>
            <a:off x="4328907" y="2116608"/>
            <a:ext cx="3662631" cy="89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200"/>
            </a:lvl1pPr>
          </a:lstStyle>
          <a:p>
            <a:r>
              <a:t>A CPU core</a:t>
            </a:r>
          </a:p>
        </p:txBody>
      </p:sp>
      <p:pic>
        <p:nvPicPr>
          <p:cNvPr id="425" name="Connection Line" descr="Connection Line"/>
          <p:cNvPicPr>
            <a:picLocks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96443" y="6115096"/>
            <a:ext cx="2007326" cy="932199"/>
          </a:xfrm>
          <a:prstGeom prst="rect">
            <a:avLst/>
          </a:prstGeom>
        </p:spPr>
      </p:pic>
      <p:pic>
        <p:nvPicPr>
          <p:cNvPr id="395" name="Line Shape" descr="Line Shape"/>
          <p:cNvPicPr>
            <a:picLocks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20485653">
            <a:off x="9446615" y="4399913"/>
            <a:ext cx="5304907" cy="1805911"/>
          </a:xfrm>
          <a:prstGeom prst="rect">
            <a:avLst/>
          </a:prstGeom>
        </p:spPr>
      </p:pic>
      <p:sp>
        <p:nvSpPr>
          <p:cNvPr id="398" name="a = X…"/>
          <p:cNvSpPr txBox="1"/>
          <p:nvPr/>
        </p:nvSpPr>
        <p:spPr>
          <a:xfrm>
            <a:off x="3901793" y="4879868"/>
            <a:ext cx="1939699" cy="1752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110000"/>
              </a:lnSpc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t>a = X</a:t>
            </a:r>
          </a:p>
          <a:p>
            <a:pPr algn="l">
              <a:lnSpc>
                <a:spcPct val="110000"/>
              </a:lnSpc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t>Y = 1</a:t>
            </a:r>
          </a:p>
        </p:txBody>
      </p:sp>
      <p:pic>
        <p:nvPicPr>
          <p:cNvPr id="399" name="Line Line" descr="Line Line"/>
          <p:cNvPicPr>
            <a:picLocks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95600" y="5474402"/>
            <a:ext cx="1146452" cy="563575"/>
          </a:xfrm>
          <a:prstGeom prst="rect">
            <a:avLst/>
          </a:prstGeom>
        </p:spPr>
      </p:pic>
      <p:sp>
        <p:nvSpPr>
          <p:cNvPr id="401" name="PC"/>
          <p:cNvSpPr txBox="1"/>
          <p:nvPr/>
        </p:nvSpPr>
        <p:spPr>
          <a:xfrm>
            <a:off x="1993163" y="5370518"/>
            <a:ext cx="890474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/>
            </a:lvl1pPr>
          </a:lstStyle>
          <a:p>
            <a:r>
              <a:t>PC</a:t>
            </a:r>
          </a:p>
        </p:txBody>
      </p:sp>
      <p:pic>
        <p:nvPicPr>
          <p:cNvPr id="402" name="Line Line" descr="Line Line"/>
          <p:cNvPicPr>
            <a:picLocks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95600" y="6195288"/>
            <a:ext cx="1146452" cy="563575"/>
          </a:xfrm>
          <a:prstGeom prst="rect">
            <a:avLst/>
          </a:prstGeom>
        </p:spPr>
      </p:pic>
      <p:sp>
        <p:nvSpPr>
          <p:cNvPr id="404" name="PC"/>
          <p:cNvSpPr txBox="1"/>
          <p:nvPr/>
        </p:nvSpPr>
        <p:spPr>
          <a:xfrm>
            <a:off x="1993163" y="6091404"/>
            <a:ext cx="890474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/>
            </a:lvl1pPr>
          </a:lstStyle>
          <a:p>
            <a:r>
              <a:t>PC</a:t>
            </a:r>
          </a:p>
        </p:txBody>
      </p:sp>
      <p:pic>
        <p:nvPicPr>
          <p:cNvPr id="405" name="Line Line" descr="Line Line"/>
          <p:cNvPicPr>
            <a:picLocks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95600" y="6916174"/>
            <a:ext cx="1146452" cy="563575"/>
          </a:xfrm>
          <a:prstGeom prst="rect">
            <a:avLst/>
          </a:prstGeom>
        </p:spPr>
      </p:pic>
      <p:sp>
        <p:nvSpPr>
          <p:cNvPr id="407" name="PC"/>
          <p:cNvSpPr txBox="1"/>
          <p:nvPr/>
        </p:nvSpPr>
        <p:spPr>
          <a:xfrm>
            <a:off x="1993163" y="6812290"/>
            <a:ext cx="890474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/>
            </a:lvl1pPr>
          </a:lstStyle>
          <a:p>
            <a:r>
              <a:t>PC</a:t>
            </a:r>
          </a:p>
        </p:txBody>
      </p:sp>
      <p:pic>
        <p:nvPicPr>
          <p:cNvPr id="408" name="Line Line" descr="Line Line"/>
          <p:cNvPicPr>
            <a:picLocks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95600" y="7637061"/>
            <a:ext cx="1146452" cy="563574"/>
          </a:xfrm>
          <a:prstGeom prst="rect">
            <a:avLst/>
          </a:prstGeom>
        </p:spPr>
      </p:pic>
      <p:sp>
        <p:nvSpPr>
          <p:cNvPr id="410" name="PC"/>
          <p:cNvSpPr txBox="1"/>
          <p:nvPr/>
        </p:nvSpPr>
        <p:spPr>
          <a:xfrm>
            <a:off x="1993163" y="7533177"/>
            <a:ext cx="890474" cy="771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/>
            </a:lvl1pPr>
          </a:lstStyle>
          <a:p>
            <a:r>
              <a:t>PC</a:t>
            </a:r>
          </a:p>
        </p:txBody>
      </p:sp>
      <p:sp>
        <p:nvSpPr>
          <p:cNvPr id="411" name="In progress"/>
          <p:cNvSpPr/>
          <p:nvPr/>
        </p:nvSpPr>
        <p:spPr>
          <a:xfrm>
            <a:off x="95131" y="3397510"/>
            <a:ext cx="4324366" cy="1370476"/>
          </a:xfrm>
          <a:prstGeom prst="wedgeEllipseCallout">
            <a:avLst>
              <a:gd name="adj1" fmla="val 38758"/>
              <a:gd name="adj2" fmla="val 86371"/>
            </a:avLst>
          </a:prstGeom>
          <a:solidFill>
            <a:schemeClr val="accent5">
              <a:lumOff val="-2986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In progress</a:t>
            </a:r>
          </a:p>
        </p:txBody>
      </p:sp>
      <p:grpSp>
        <p:nvGrpSpPr>
          <p:cNvPr id="416" name="Group"/>
          <p:cNvGrpSpPr/>
          <p:nvPr/>
        </p:nvGrpSpPr>
        <p:grpSpPr>
          <a:xfrm>
            <a:off x="14595954" y="2116608"/>
            <a:ext cx="4397091" cy="3599204"/>
            <a:chOff x="0" y="0"/>
            <a:chExt cx="4397090" cy="3599203"/>
          </a:xfrm>
        </p:grpSpPr>
        <p:sp>
          <p:nvSpPr>
            <p:cNvPr id="412" name="Rounded Rectangle"/>
            <p:cNvSpPr/>
            <p:nvPr/>
          </p:nvSpPr>
          <p:spPr>
            <a:xfrm>
              <a:off x="0" y="881403"/>
              <a:ext cx="3889091" cy="2209801"/>
            </a:xfrm>
            <a:prstGeom prst="roundRect">
              <a:avLst>
                <a:gd name="adj" fmla="val 36104"/>
              </a:avLst>
            </a:prstGeom>
            <a:solidFill>
              <a:srgbClr val="FFFFFF"/>
            </a:solidFill>
            <a:ln w="762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3" name="Other cores"/>
            <p:cNvSpPr txBox="1"/>
            <p:nvPr/>
          </p:nvSpPr>
          <p:spPr>
            <a:xfrm>
              <a:off x="100682" y="0"/>
              <a:ext cx="3687726" cy="8952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200"/>
              </a:lvl1pPr>
            </a:lstStyle>
            <a:p>
              <a:r>
                <a:t>Other cores</a:t>
              </a:r>
            </a:p>
          </p:txBody>
        </p:sp>
        <p:sp>
          <p:nvSpPr>
            <p:cNvPr id="414" name="Rounded Rectangle"/>
            <p:cNvSpPr/>
            <p:nvPr/>
          </p:nvSpPr>
          <p:spPr>
            <a:xfrm>
              <a:off x="254000" y="1135403"/>
              <a:ext cx="3889091" cy="2209801"/>
            </a:xfrm>
            <a:prstGeom prst="roundRect">
              <a:avLst>
                <a:gd name="adj" fmla="val 36104"/>
              </a:avLst>
            </a:prstGeom>
            <a:solidFill>
              <a:srgbClr val="FFFFFF"/>
            </a:solidFill>
            <a:ln w="762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5" name="Rounded Rectangle"/>
            <p:cNvSpPr/>
            <p:nvPr/>
          </p:nvSpPr>
          <p:spPr>
            <a:xfrm>
              <a:off x="508000" y="1389403"/>
              <a:ext cx="3889091" cy="2209801"/>
            </a:xfrm>
            <a:prstGeom prst="roundRect">
              <a:avLst>
                <a:gd name="adj" fmla="val 36104"/>
              </a:avLst>
            </a:prstGeom>
            <a:solidFill>
              <a:srgbClr val="FFFFFF"/>
            </a:solidFill>
            <a:ln w="762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417" name="Rounded Rectangle Rounded rectangle" descr="Rounded Rectangle Rounded rectangle"/>
          <p:cNvPicPr>
            <a:picLocks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1738014" y="6884696"/>
            <a:ext cx="12013396" cy="1052332"/>
          </a:xfrm>
          <a:prstGeom prst="rect">
            <a:avLst/>
          </a:prstGeom>
        </p:spPr>
      </p:pic>
      <p:pic>
        <p:nvPicPr>
          <p:cNvPr id="419" name="Rounded Rectangle Rounded rectangle" descr="Rounded Rectangle Rounded rectangle"/>
          <p:cNvPicPr>
            <a:picLocks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1763700" y="8918490"/>
            <a:ext cx="11718924" cy="1050587"/>
          </a:xfrm>
          <a:prstGeom prst="rect">
            <a:avLst/>
          </a:prstGeom>
        </p:spPr>
      </p:pic>
      <p:sp>
        <p:nvSpPr>
          <p:cNvPr id="421" name="commit"/>
          <p:cNvSpPr txBox="1"/>
          <p:nvPr/>
        </p:nvSpPr>
        <p:spPr>
          <a:xfrm rot="20243535">
            <a:off x="11332502" y="3870323"/>
            <a:ext cx="2225346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r>
              <a:t>commit</a:t>
            </a:r>
          </a:p>
        </p:txBody>
      </p:sp>
      <p:sp>
        <p:nvSpPr>
          <p:cNvPr id="424" name="Two approaches to commit time"/>
          <p:cNvSpPr txBox="1"/>
          <p:nvPr/>
        </p:nvSpPr>
        <p:spPr>
          <a:xfrm>
            <a:off x="11421123" y="5747780"/>
            <a:ext cx="12647180" cy="1211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spcBef>
                <a:spcPts val="3000"/>
              </a:spcBef>
              <a:defRPr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Two approaches to commit time</a:t>
            </a:r>
          </a:p>
        </p:txBody>
      </p:sp>
      <p:sp>
        <p:nvSpPr>
          <p:cNvPr id="397" name="Treated as completed before the load’s completion in its own core"/>
          <p:cNvSpPr/>
          <p:nvPr/>
        </p:nvSpPr>
        <p:spPr>
          <a:xfrm>
            <a:off x="452728" y="6674734"/>
            <a:ext cx="8746729" cy="47196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410" y="0"/>
                </a:moveTo>
                <a:lnTo>
                  <a:pt x="11799" y="9336"/>
                </a:lnTo>
                <a:lnTo>
                  <a:pt x="1959" y="9336"/>
                </a:lnTo>
                <a:cubicBezTo>
                  <a:pt x="877" y="9336"/>
                  <a:pt x="0" y="10962"/>
                  <a:pt x="0" y="12967"/>
                </a:cubicBezTo>
                <a:lnTo>
                  <a:pt x="0" y="17969"/>
                </a:lnTo>
                <a:cubicBezTo>
                  <a:pt x="0" y="19974"/>
                  <a:pt x="877" y="21600"/>
                  <a:pt x="1959" y="21600"/>
                </a:cubicBezTo>
                <a:lnTo>
                  <a:pt x="19641" y="21600"/>
                </a:lnTo>
                <a:cubicBezTo>
                  <a:pt x="20723" y="21600"/>
                  <a:pt x="21600" y="19974"/>
                  <a:pt x="21600" y="17969"/>
                </a:cubicBezTo>
                <a:lnTo>
                  <a:pt x="21600" y="12967"/>
                </a:lnTo>
                <a:cubicBezTo>
                  <a:pt x="21600" y="10962"/>
                  <a:pt x="20723" y="9336"/>
                  <a:pt x="19641" y="9336"/>
                </a:cubicBezTo>
                <a:lnTo>
                  <a:pt x="13355" y="9336"/>
                </a:lnTo>
                <a:lnTo>
                  <a:pt x="15410" y="0"/>
                </a:lnTo>
                <a:close/>
              </a:path>
            </a:pathLst>
          </a:custGeom>
          <a:solidFill>
            <a:schemeClr val="accent1">
              <a:lumOff val="-1357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>
              <a:spcBef>
                <a:spcPts val="2000"/>
              </a:spcBef>
              <a:defRPr>
                <a:solidFill>
                  <a:srgbClr val="FFFFFF"/>
                </a:solidFill>
              </a:defRPr>
            </a:pPr>
            <a:endParaRPr lang="en-US" dirty="0"/>
          </a:p>
          <a:p>
            <a:pPr>
              <a:spcBef>
                <a:spcPts val="2000"/>
              </a:spcBef>
              <a:defRPr>
                <a:solidFill>
                  <a:srgbClr val="FFFFFF"/>
                </a:solidFill>
              </a:defRPr>
            </a:pPr>
            <a:endParaRPr lang="en-US" dirty="0"/>
          </a:p>
          <a:p>
            <a:pPr>
              <a:spcBef>
                <a:spcPts val="2000"/>
              </a:spcBef>
              <a:defRPr>
                <a:solidFill>
                  <a:srgbClr val="FFFFFF"/>
                </a:solidFill>
              </a:defRPr>
            </a:pPr>
            <a:r>
              <a:rPr dirty="0"/>
              <a:t>Treated as completed</a:t>
            </a:r>
            <a:br>
              <a:rPr dirty="0"/>
            </a:br>
            <a:r>
              <a:rPr dirty="0"/>
              <a:t>before the load’s completion</a:t>
            </a:r>
            <a:br>
              <a:rPr dirty="0"/>
            </a:br>
            <a:r>
              <a:rPr dirty="0"/>
              <a:t>in its own core</a:t>
            </a:r>
          </a:p>
        </p:txBody>
      </p:sp>
      <p:sp>
        <p:nvSpPr>
          <p:cNvPr id="423" name="few Arm CPUs"/>
          <p:cNvSpPr/>
          <p:nvPr/>
        </p:nvSpPr>
        <p:spPr>
          <a:xfrm>
            <a:off x="6433730" y="10482332"/>
            <a:ext cx="5457781" cy="1370476"/>
          </a:xfrm>
          <a:prstGeom prst="wedgeEllipseCallout">
            <a:avLst>
              <a:gd name="adj1" fmla="val 49345"/>
              <a:gd name="adj2" fmla="val -98384"/>
            </a:avLst>
          </a:prstGeom>
          <a:solidFill>
            <a:schemeClr val="accent5">
              <a:lumOff val="-2986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few Arm CPUs</a:t>
            </a:r>
          </a:p>
        </p:txBody>
      </p:sp>
      <p:sp>
        <p:nvSpPr>
          <p:cNvPr id="422" name="most CPUs"/>
          <p:cNvSpPr/>
          <p:nvPr/>
        </p:nvSpPr>
        <p:spPr>
          <a:xfrm>
            <a:off x="7219755" y="8298533"/>
            <a:ext cx="4324366" cy="1370475"/>
          </a:xfrm>
          <a:prstGeom prst="wedgeEllipseCallout">
            <a:avLst>
              <a:gd name="adj1" fmla="val 57671"/>
              <a:gd name="adj2" fmla="val -93519"/>
            </a:avLst>
          </a:prstGeom>
          <a:solidFill>
            <a:schemeClr val="accent5">
              <a:lumOff val="-2986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/>
              <a:t>most CPUs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1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1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4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19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38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2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3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2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2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2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2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2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2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/>
                                        <p:tgtEl>
                                          <p:spTgt spid="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2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" grpId="21" build="p" bldLvl="5" animBg="1" advAuto="0"/>
      <p:bldP spid="385" grpId="20" build="p" bldLvl="5" animBg="1" advAuto="0"/>
      <p:bldP spid="390" grpId="1" animBg="1" advAuto="0"/>
      <p:bldP spid="425" grpId="6" animBg="1" advAuto="0"/>
      <p:bldP spid="395" grpId="16" animBg="1" advAuto="0"/>
      <p:bldP spid="399" grpId="3" animBg="1" advAuto="0"/>
      <p:bldP spid="401" grpId="2" animBg="1" advAuto="0"/>
      <p:bldP spid="402" grpId="5" animBg="1" advAuto="0"/>
      <p:bldP spid="402" grpId="9" animBg="1" advAuto="0"/>
      <p:bldP spid="404" grpId="4" animBg="1" advAuto="0"/>
      <p:bldP spid="404" grpId="8" animBg="1" advAuto="0"/>
      <p:bldP spid="405" grpId="11" animBg="1" advAuto="0"/>
      <p:bldP spid="405" grpId="13" animBg="1" advAuto="0"/>
      <p:bldP spid="407" grpId="10" animBg="1" advAuto="0"/>
      <p:bldP spid="407" grpId="12" animBg="1" advAuto="0"/>
      <p:bldP spid="408" grpId="15" animBg="1" advAuto="0"/>
      <p:bldP spid="410" grpId="14" animBg="1" advAuto="0"/>
      <p:bldP spid="416" grpId="18" animBg="1" advAuto="0"/>
      <p:bldP spid="417" grpId="22" animBg="1" advAuto="0"/>
      <p:bldP spid="419" grpId="24" animBg="1" advAuto="0"/>
      <p:bldP spid="421" grpId="17" animBg="1" advAuto="0"/>
      <p:bldP spid="424" grpId="19" build="p" bldLvl="5" animBg="1" advAuto="0"/>
      <p:bldP spid="397" grpId="7" animBg="1" advAuto="0"/>
      <p:bldP spid="423" grpId="25" animBg="1" advAuto="0"/>
      <p:bldP spid="422" grpId="23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30" name="Propose “strong store”: only prevents reordering with previous loads…"/>
              <p:cNvSpPr txBox="1"/>
              <p:nvPr/>
            </p:nvSpPr>
            <p:spPr>
              <a:xfrm>
                <a:off x="1689100" y="2297767"/>
                <a:ext cx="21005800" cy="1078323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 anchor="ctr">
                <a:normAutofit fontScale="85000" lnSpcReduction="20000"/>
              </a:bodyPr>
              <a:lstStyle/>
              <a:p>
                <a:pPr marL="635000" indent="-635000" algn="l">
                  <a:spcBef>
                    <a:spcPts val="4000"/>
                  </a:spcBef>
                  <a:buSzPct val="125000"/>
                  <a:buChar char="•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b="1" dirty="0"/>
                  <a:t>Propose “RW fence”</a:t>
                </a:r>
              </a:p>
              <a:p>
                <a:pPr marL="1270000" lvl="1" indent="-635000" algn="l">
                  <a:spcBef>
                    <a:spcPts val="4000"/>
                  </a:spcBef>
                  <a:buSzPct val="125000"/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dirty="0"/>
                  <a:t>prevents reordering between </a:t>
                </a:r>
                <a:r>
                  <a:rPr lang="en-US" altLang="ko-KR" b="1" dirty="0"/>
                  <a:t>preceding loads &amp; subsequent stores</a:t>
                </a:r>
                <a:endParaRPr lang="en-US" dirty="0"/>
              </a:p>
              <a:p>
                <a:pPr marL="1270000" lvl="1" indent="-635000" algn="l">
                  <a:spcBef>
                    <a:spcPts val="4000"/>
                  </a:spcBef>
                  <a:buSzPct val="125000"/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dirty="0"/>
                  <a:t>Most CPUs → no operation</a:t>
                </a:r>
              </a:p>
              <a:p>
                <a:pPr marL="1270000" lvl="1" indent="-635000" algn="l">
                  <a:spcBef>
                    <a:spcPts val="4000"/>
                  </a:spcBef>
                  <a:buSzPct val="125000"/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dirty="0"/>
                  <a:t>Few Arm CPUs → small performance overhead</a:t>
                </a:r>
                <a:endParaRPr lang="en-US" b="1" dirty="0"/>
              </a:p>
              <a:p>
                <a:pPr marL="635000" indent="-635000" algn="l">
                  <a:spcBef>
                    <a:spcPts val="4000"/>
                  </a:spcBef>
                  <a:buSzPct val="125000"/>
                  <a:buChar char="•"/>
                  <a:defRPr b="1"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dirty="0"/>
                  <a:t>Efficient mapping with </a:t>
                </a:r>
                <a:r>
                  <a:rPr lang="en-US" dirty="0" err="1"/>
                  <a:t>RWfence</a:t>
                </a:r>
                <a:r>
                  <a:rPr lang="en-US" dirty="0"/>
                  <a:t> (for future chips)</a:t>
                </a:r>
              </a:p>
              <a:p>
                <a:pPr marL="1270000" lvl="1" indent="-635000" algn="l">
                  <a:spcBef>
                    <a:spcPts val="4000"/>
                  </a:spcBef>
                  <a:buSzPct val="125000"/>
                  <a:buFontTx/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dirty="0"/>
                  <a:t>Non-atomic writes → stores</a:t>
                </a:r>
              </a:p>
              <a:p>
                <a:pPr marL="1270000" lvl="1" indent="-635000" algn="l">
                  <a:spcBef>
                    <a:spcPts val="4000"/>
                  </a:spcBef>
                  <a:buSzPct val="125000"/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dirty="0"/>
                  <a:t>Relaxed writes → </a:t>
                </a:r>
                <a:r>
                  <a:rPr lang="en-US" dirty="0" err="1"/>
                  <a:t>RWfence</a:t>
                </a:r>
                <a:r>
                  <a:rPr lang="en-US" dirty="0"/>
                  <a:t>; store </a:t>
                </a:r>
              </a:p>
              <a:p>
                <a:pPr marL="635000" indent="-635000" algn="l">
                  <a:spcBef>
                    <a:spcPts val="4000"/>
                  </a:spcBef>
                  <a:buSzPct val="125000"/>
                  <a:buChar char="•"/>
                  <a:defRPr b="1"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dirty="0"/>
                  <a:t>Efficient mapping without </a:t>
                </a:r>
                <a:r>
                  <a:rPr lang="en-US" altLang="ko-KR"/>
                  <a:t>RWfence</a:t>
                </a:r>
                <a:r>
                  <a:rPr lang="en-US" altLang="ko-KR" dirty="0"/>
                  <a:t> (for legacy chips)</a:t>
                </a:r>
              </a:p>
              <a:p>
                <a:pPr marL="1270000" lvl="1" indent="-635000" algn="l">
                  <a:spcBef>
                    <a:spcPts val="4000"/>
                  </a:spcBef>
                  <a:buSzPct val="125000"/>
                  <a:buFontTx/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dirty="0"/>
                  <a:t>Non-atomic writes → stores</a:t>
                </a:r>
              </a:p>
              <a:p>
                <a:pPr marL="1270000" lvl="1" indent="-635000" algn="l">
                  <a:spcBef>
                    <a:spcPts val="4000"/>
                  </a:spcBef>
                  <a:buSzPct val="125000"/>
                  <a:buChar char="-"/>
                  <a:defRPr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  <a:r>
                  <a:rPr lang="en-US" altLang="ko-KR" dirty="0"/>
                  <a:t>Relaxed writes →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ar-AE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ko-KR" altLang="ar-AE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altLang="ko-KR" dirty="0"/>
                              <m:t>store</m:t>
                            </m:r>
                            <m:r>
                              <m:rPr>
                                <m:nor/>
                              </m:rPr>
                              <a:rPr lang="en-US" altLang="ko-KR" b="0" i="0" dirty="0" smtClean="0"/>
                              <m:t>              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 (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for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most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CPUs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)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altLang="ko-KR" dirty="0"/>
                              <m:t>store</m:t>
                            </m:r>
                            <m:r>
                              <m:rPr>
                                <m:nor/>
                              </m:rPr>
                              <a:rPr lang="en-US" altLang="ko-KR" b="0" i="0" dirty="0" smtClean="0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altLang="ko-KR" b="0" i="0" dirty="0" smtClean="0"/>
                              <m:t>release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ko-KR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for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ko-KR" b="0" i="0" dirty="0" smtClean="0"/>
                              <m:t>few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ko-KR" b="0" i="0" dirty="0" smtClean="0"/>
                              <m:t>ARM</m:t>
                            </m:r>
                            <m:r>
                              <m:rPr>
                                <m:nor/>
                              </m:rPr>
                              <a:rPr lang="en-US" altLang="ko-KR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CPUs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en-US" altLang="ko-KR" dirty="0"/>
              </a:p>
            </p:txBody>
          </p:sp>
        </mc:Choice>
        <mc:Fallback>
          <p:sp>
            <p:nvSpPr>
              <p:cNvPr id="430" name="Propose “strong store”: only prevents reordering with previous loads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100" y="2297767"/>
                <a:ext cx="21005800" cy="10783233"/>
              </a:xfrm>
              <a:prstGeom prst="rect">
                <a:avLst/>
              </a:prstGeom>
              <a:blipFill>
                <a:blip r:embed="rId3"/>
                <a:stretch>
                  <a:fillRect l="-1509" t="-118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1" name="Our Solution for An Efficient In-order Model"/>
          <p:cNvSpPr txBox="1">
            <a:spLocks noGrp="1"/>
          </p:cNvSpPr>
          <p:nvPr>
            <p:ph type="title"/>
          </p:nvPr>
        </p:nvSpPr>
        <p:spPr>
          <a:xfrm>
            <a:off x="1448872" y="-24397"/>
            <a:ext cx="21486256" cy="2286001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rPr dirty="0"/>
              <a:t>Our Solution </a:t>
            </a:r>
            <a:r>
              <a:rPr lang="en-US" dirty="0"/>
              <a:t>for Efficient Mapping</a:t>
            </a:r>
            <a:endParaRPr dirty="0"/>
          </a:p>
        </p:txBody>
      </p:sp>
      <p:sp>
        <p:nvSpPr>
          <p:cNvPr id="432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pic>
        <p:nvPicPr>
          <p:cNvPr id="433" name="Line Line" descr="Line Line"/>
          <p:cNvPicPr>
            <a:picLocks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137252" y="9282334"/>
            <a:ext cx="879162" cy="561757"/>
          </a:xfrm>
          <a:prstGeom prst="rect">
            <a:avLst/>
          </a:prstGeom>
        </p:spPr>
      </p:pic>
      <p:pic>
        <p:nvPicPr>
          <p:cNvPr id="437" name="Connection Line" descr="Connection Line"/>
          <p:cNvPicPr>
            <a:picLocks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5580084" y="6815147"/>
            <a:ext cx="703853" cy="5774670"/>
          </a:xfrm>
          <a:prstGeom prst="rect">
            <a:avLst/>
          </a:prstGeom>
        </p:spPr>
      </p:pic>
      <p:sp>
        <p:nvSpPr>
          <p:cNvPr id="436" name="No or negligible…"/>
          <p:cNvSpPr txBox="1"/>
          <p:nvPr/>
        </p:nvSpPr>
        <p:spPr>
          <a:xfrm>
            <a:off x="16283937" y="9172693"/>
            <a:ext cx="6729680" cy="1557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>
                <a:solidFill>
                  <a:schemeClr val="accent5">
                    <a:lumOff val="-29866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/>
              <a:t>No or negligible</a:t>
            </a:r>
          </a:p>
          <a:p>
            <a:pPr>
              <a:defRPr b="1">
                <a:solidFill>
                  <a:schemeClr val="accent5">
                    <a:lumOff val="-29866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/>
              <a:t>performance overhead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" grpId="3" animBg="1" advAuto="0"/>
      <p:bldP spid="437" grpId="2" animBg="1" advAuto="0"/>
      <p:bldP spid="436" grpId="4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01"/>
          <p:cNvSpPr txBox="1">
            <a:spLocks noGrp="1"/>
          </p:cNvSpPr>
          <p:nvPr>
            <p:ph type="sldNum" sz="quarter" idx="2"/>
          </p:nvPr>
        </p:nvSpPr>
        <p:spPr>
          <a:xfrm>
            <a:off x="12035993" y="13081000"/>
            <a:ext cx="312014" cy="52308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sp>
        <p:nvSpPr>
          <p:cNvPr id="194" name="Can we model ALL relaxed behaviors with in-order executions?…"/>
          <p:cNvSpPr txBox="1">
            <a:spLocks noGrp="1"/>
          </p:cNvSpPr>
          <p:nvPr>
            <p:ph type="body" idx="1"/>
          </p:nvPr>
        </p:nvSpPr>
        <p:spPr>
          <a:xfrm>
            <a:off x="1689100" y="1120710"/>
            <a:ext cx="21005800" cy="1058361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sz="70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02729861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Results: All Formalized in Coq"/>
          <p:cNvSpPr txBox="1">
            <a:spLocks noGrp="1"/>
          </p:cNvSpPr>
          <p:nvPr>
            <p:ph type="title"/>
          </p:nvPr>
        </p:nvSpPr>
        <p:spPr>
          <a:xfrm>
            <a:off x="1448872" y="-24397"/>
            <a:ext cx="21486256" cy="2286001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rPr lang="en-US" dirty="0"/>
              <a:t>Final Results (All formalized in Coq)</a:t>
            </a:r>
            <a:endParaRPr dirty="0"/>
          </a:p>
        </p:txBody>
      </p:sp>
      <p:sp>
        <p:nvSpPr>
          <p:cNvPr id="454" name="Hardware models…"/>
          <p:cNvSpPr/>
          <p:nvPr/>
        </p:nvSpPr>
        <p:spPr>
          <a:xfrm>
            <a:off x="11408883" y="10833386"/>
            <a:ext cx="9231313" cy="2094791"/>
          </a:xfrm>
          <a:prstGeom prst="roundRect">
            <a:avLst>
              <a:gd name="adj" fmla="val 15000"/>
            </a:avLst>
          </a:prstGeom>
          <a:solidFill>
            <a:srgbClr val="F1B6B0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r>
              <a:rPr lang="en-US" altLang="ko-KR" dirty="0">
                <a:solidFill>
                  <a:srgbClr val="FF0000"/>
                </a:solidFill>
              </a:rPr>
              <a:t>Out-of-order</a:t>
            </a:r>
          </a:p>
        </p:txBody>
      </p:sp>
      <p:sp>
        <p:nvSpPr>
          <p:cNvPr id="457" name="Non-atomic:…"/>
          <p:cNvSpPr/>
          <p:nvPr/>
        </p:nvSpPr>
        <p:spPr>
          <a:xfrm>
            <a:off x="11383483" y="7463800"/>
            <a:ext cx="4639073" cy="20947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extrusionOk="0">
                <a:moveTo>
                  <a:pt x="2238" y="0"/>
                </a:moveTo>
                <a:cubicBezTo>
                  <a:pt x="1910" y="0"/>
                  <a:pt x="1645" y="-2"/>
                  <a:pt x="1432" y="28"/>
                </a:cubicBezTo>
                <a:cubicBezTo>
                  <a:pt x="1219" y="59"/>
                  <a:pt x="1055" y="120"/>
                  <a:pt x="924" y="241"/>
                </a:cubicBezTo>
                <a:cubicBezTo>
                  <a:pt x="735" y="394"/>
                  <a:pt x="566" y="637"/>
                  <a:pt x="427" y="945"/>
                </a:cubicBezTo>
                <a:cubicBezTo>
                  <a:pt x="288" y="1253"/>
                  <a:pt x="180" y="1627"/>
                  <a:pt x="111" y="2046"/>
                </a:cubicBezTo>
                <a:cubicBezTo>
                  <a:pt x="56" y="2336"/>
                  <a:pt x="28" y="2699"/>
                  <a:pt x="15" y="3171"/>
                </a:cubicBezTo>
                <a:cubicBezTo>
                  <a:pt x="1" y="3643"/>
                  <a:pt x="0" y="4224"/>
                  <a:pt x="0" y="4951"/>
                </a:cubicBezTo>
                <a:lnTo>
                  <a:pt x="0" y="16645"/>
                </a:lnTo>
                <a:cubicBezTo>
                  <a:pt x="0" y="17372"/>
                  <a:pt x="1" y="17953"/>
                  <a:pt x="15" y="18425"/>
                </a:cubicBezTo>
                <a:cubicBezTo>
                  <a:pt x="28" y="18897"/>
                  <a:pt x="56" y="19260"/>
                  <a:pt x="111" y="19550"/>
                </a:cubicBezTo>
                <a:cubicBezTo>
                  <a:pt x="180" y="19969"/>
                  <a:pt x="288" y="20343"/>
                  <a:pt x="427" y="20651"/>
                </a:cubicBezTo>
                <a:cubicBezTo>
                  <a:pt x="566" y="20959"/>
                  <a:pt x="735" y="21202"/>
                  <a:pt x="924" y="21355"/>
                </a:cubicBezTo>
                <a:cubicBezTo>
                  <a:pt x="1055" y="21476"/>
                  <a:pt x="1219" y="21537"/>
                  <a:pt x="1432" y="21568"/>
                </a:cubicBezTo>
                <a:cubicBezTo>
                  <a:pt x="1645" y="21598"/>
                  <a:pt x="1910" y="21596"/>
                  <a:pt x="2238" y="21596"/>
                </a:cubicBezTo>
                <a:lnTo>
                  <a:pt x="21600" y="21596"/>
                </a:lnTo>
                <a:lnTo>
                  <a:pt x="21600" y="0"/>
                </a:lnTo>
                <a:lnTo>
                  <a:pt x="2238" y="0"/>
                </a:lnTo>
                <a:close/>
              </a:path>
            </a:pathLst>
          </a:custGeom>
          <a:solidFill>
            <a:srgbClr val="F1B6B0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r>
              <a:rPr dirty="0"/>
              <a:t>Non-atomic:</a:t>
            </a:r>
          </a:p>
          <a:p>
            <a:r>
              <a:rPr lang="en-US" dirty="0">
                <a:solidFill>
                  <a:srgbClr val="FF0000"/>
                </a:solidFill>
              </a:rPr>
              <a:t>Out-of</a:t>
            </a:r>
            <a:r>
              <a:rPr dirty="0">
                <a:solidFill>
                  <a:srgbClr val="FF0000"/>
                </a:solidFill>
              </a:rPr>
              <a:t>-order</a:t>
            </a:r>
          </a:p>
        </p:txBody>
      </p:sp>
      <p:sp>
        <p:nvSpPr>
          <p:cNvPr id="458" name="Atomic:…"/>
          <p:cNvSpPr/>
          <p:nvPr/>
        </p:nvSpPr>
        <p:spPr>
          <a:xfrm>
            <a:off x="16170413" y="7463800"/>
            <a:ext cx="4639072" cy="20947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extrusionOk="0">
                <a:moveTo>
                  <a:pt x="0" y="0"/>
                </a:moveTo>
                <a:lnTo>
                  <a:pt x="0" y="21596"/>
                </a:lnTo>
                <a:lnTo>
                  <a:pt x="19355" y="21596"/>
                </a:lnTo>
                <a:cubicBezTo>
                  <a:pt x="19684" y="21596"/>
                  <a:pt x="19949" y="21598"/>
                  <a:pt x="20163" y="21568"/>
                </a:cubicBezTo>
                <a:cubicBezTo>
                  <a:pt x="20377" y="21537"/>
                  <a:pt x="20541" y="21476"/>
                  <a:pt x="20673" y="21355"/>
                </a:cubicBezTo>
                <a:cubicBezTo>
                  <a:pt x="20863" y="21202"/>
                  <a:pt x="21032" y="20959"/>
                  <a:pt x="21172" y="20651"/>
                </a:cubicBezTo>
                <a:cubicBezTo>
                  <a:pt x="21311" y="20343"/>
                  <a:pt x="21420" y="19969"/>
                  <a:pt x="21489" y="19550"/>
                </a:cubicBezTo>
                <a:cubicBezTo>
                  <a:pt x="21544" y="19260"/>
                  <a:pt x="21571" y="18897"/>
                  <a:pt x="21585" y="18425"/>
                </a:cubicBezTo>
                <a:cubicBezTo>
                  <a:pt x="21599" y="17953"/>
                  <a:pt x="21600" y="17372"/>
                  <a:pt x="21600" y="16645"/>
                </a:cubicBezTo>
                <a:lnTo>
                  <a:pt x="21600" y="4951"/>
                </a:lnTo>
                <a:cubicBezTo>
                  <a:pt x="21600" y="4224"/>
                  <a:pt x="21599" y="3643"/>
                  <a:pt x="21585" y="3171"/>
                </a:cubicBezTo>
                <a:cubicBezTo>
                  <a:pt x="21571" y="2699"/>
                  <a:pt x="21544" y="2336"/>
                  <a:pt x="21489" y="2046"/>
                </a:cubicBezTo>
                <a:cubicBezTo>
                  <a:pt x="21420" y="1627"/>
                  <a:pt x="21311" y="1253"/>
                  <a:pt x="21172" y="945"/>
                </a:cubicBezTo>
                <a:cubicBezTo>
                  <a:pt x="21032" y="637"/>
                  <a:pt x="20863" y="394"/>
                  <a:pt x="20673" y="241"/>
                </a:cubicBezTo>
                <a:cubicBezTo>
                  <a:pt x="20541" y="120"/>
                  <a:pt x="20377" y="59"/>
                  <a:pt x="20163" y="28"/>
                </a:cubicBezTo>
                <a:cubicBezTo>
                  <a:pt x="19949" y="-2"/>
                  <a:pt x="19684" y="0"/>
                  <a:pt x="19355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B6DDE6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r>
              <a:rPr dirty="0"/>
              <a:t>Atomic:</a:t>
            </a:r>
          </a:p>
          <a:p>
            <a:r>
              <a:rPr dirty="0">
                <a:solidFill>
                  <a:srgbClr val="0070C0"/>
                </a:solidFill>
              </a:rPr>
              <a:t>In-order</a:t>
            </a:r>
          </a:p>
        </p:txBody>
      </p:sp>
      <p:sp>
        <p:nvSpPr>
          <p:cNvPr id="460" name="01"/>
          <p:cNvSpPr txBox="1">
            <a:spLocks noGrp="1"/>
          </p:cNvSpPr>
          <p:nvPr>
            <p:ph type="sldNum" sz="quarter" idx="2"/>
          </p:nvPr>
        </p:nvSpPr>
        <p:spPr>
          <a:xfrm>
            <a:off x="13151580" y="13081000"/>
            <a:ext cx="509728" cy="52308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sp>
        <p:nvSpPr>
          <p:cNvPr id="466" name="Source model"/>
          <p:cNvSpPr txBox="1"/>
          <p:nvPr/>
        </p:nvSpPr>
        <p:spPr>
          <a:xfrm>
            <a:off x="13387855" y="6102722"/>
            <a:ext cx="5536772" cy="1456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n-US" sz="5500" dirty="0"/>
              <a:t>vRC11</a:t>
            </a:r>
            <a:br>
              <a:rPr lang="en-US" sz="5500" dirty="0"/>
            </a:br>
            <a:r>
              <a:rPr lang="en-US" sz="5500" dirty="0">
                <a:solidFill>
                  <a:srgbClr val="FF0000"/>
                </a:solidFill>
              </a:rPr>
              <a:t>+promises on </a:t>
            </a:r>
            <a:r>
              <a:rPr lang="en-US" sz="5500" dirty="0" err="1">
                <a:solidFill>
                  <a:srgbClr val="FF0000"/>
                </a:solidFill>
              </a:rPr>
              <a:t>na</a:t>
            </a:r>
            <a:endParaRPr sz="5500" dirty="0">
              <a:solidFill>
                <a:srgbClr val="FF0000"/>
              </a:solidFill>
            </a:endParaRPr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CA87B008-082F-4249-B6CD-62D042297E82}"/>
              </a:ext>
            </a:extLst>
          </p:cNvPr>
          <p:cNvSpPr/>
          <p:nvPr/>
        </p:nvSpPr>
        <p:spPr>
          <a:xfrm flipH="1">
            <a:off x="13060931" y="9609310"/>
            <a:ext cx="16556" cy="1277181"/>
          </a:xfrm>
          <a:prstGeom prst="line">
            <a:avLst/>
          </a:prstGeom>
          <a:ln w="2032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" name="Source model">
            <a:extLst>
              <a:ext uri="{FF2B5EF4-FFF2-40B4-BE49-F238E27FC236}">
                <a16:creationId xmlns:a16="http://schemas.microsoft.com/office/drawing/2014/main" id="{DAF54A9B-E490-4841-BAEE-C6B028E8FEC3}"/>
              </a:ext>
            </a:extLst>
          </p:cNvPr>
          <p:cNvSpPr txBox="1"/>
          <p:nvPr/>
        </p:nvSpPr>
        <p:spPr>
          <a:xfrm>
            <a:off x="15606957" y="9941331"/>
            <a:ext cx="1126912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/>
              <a:t>HW</a:t>
            </a:r>
            <a:endParaRPr dirty="0"/>
          </a:p>
        </p:txBody>
      </p:sp>
      <p:sp>
        <p:nvSpPr>
          <p:cNvPr id="40" name="Source model">
            <a:extLst>
              <a:ext uri="{FF2B5EF4-FFF2-40B4-BE49-F238E27FC236}">
                <a16:creationId xmlns:a16="http://schemas.microsoft.com/office/drawing/2014/main" id="{7C3DA62B-37A3-42AB-A990-A1BF7FA0A65E}"/>
              </a:ext>
            </a:extLst>
          </p:cNvPr>
          <p:cNvSpPr txBox="1"/>
          <p:nvPr/>
        </p:nvSpPr>
        <p:spPr>
          <a:xfrm>
            <a:off x="19527639" y="9822765"/>
            <a:ext cx="3728493" cy="6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lang="en-US" sz="3500" dirty="0">
                <a:solidFill>
                  <a:srgbClr val="0070C0"/>
                </a:solidFill>
              </a:rPr>
              <a:t>Insert RW fences</a:t>
            </a:r>
          </a:p>
        </p:txBody>
      </p:sp>
      <p:sp>
        <p:nvSpPr>
          <p:cNvPr id="23" name="Non-atomic:…">
            <a:extLst>
              <a:ext uri="{FF2B5EF4-FFF2-40B4-BE49-F238E27FC236}">
                <a16:creationId xmlns:a16="http://schemas.microsoft.com/office/drawing/2014/main" id="{CF1F362B-D262-4E42-9E70-91019F30E533}"/>
              </a:ext>
            </a:extLst>
          </p:cNvPr>
          <p:cNvSpPr/>
          <p:nvPr/>
        </p:nvSpPr>
        <p:spPr>
          <a:xfrm>
            <a:off x="11383483" y="3528980"/>
            <a:ext cx="4639073" cy="20947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extrusionOk="0">
                <a:moveTo>
                  <a:pt x="2238" y="0"/>
                </a:moveTo>
                <a:cubicBezTo>
                  <a:pt x="1910" y="0"/>
                  <a:pt x="1645" y="-2"/>
                  <a:pt x="1432" y="28"/>
                </a:cubicBezTo>
                <a:cubicBezTo>
                  <a:pt x="1219" y="59"/>
                  <a:pt x="1055" y="120"/>
                  <a:pt x="924" y="241"/>
                </a:cubicBezTo>
                <a:cubicBezTo>
                  <a:pt x="735" y="394"/>
                  <a:pt x="566" y="637"/>
                  <a:pt x="427" y="945"/>
                </a:cubicBezTo>
                <a:cubicBezTo>
                  <a:pt x="288" y="1253"/>
                  <a:pt x="180" y="1627"/>
                  <a:pt x="111" y="2046"/>
                </a:cubicBezTo>
                <a:cubicBezTo>
                  <a:pt x="56" y="2336"/>
                  <a:pt x="28" y="2699"/>
                  <a:pt x="15" y="3171"/>
                </a:cubicBezTo>
                <a:cubicBezTo>
                  <a:pt x="1" y="3643"/>
                  <a:pt x="0" y="4224"/>
                  <a:pt x="0" y="4951"/>
                </a:cubicBezTo>
                <a:lnTo>
                  <a:pt x="0" y="16645"/>
                </a:lnTo>
                <a:cubicBezTo>
                  <a:pt x="0" y="17372"/>
                  <a:pt x="1" y="17953"/>
                  <a:pt x="15" y="18425"/>
                </a:cubicBezTo>
                <a:cubicBezTo>
                  <a:pt x="28" y="18897"/>
                  <a:pt x="56" y="19260"/>
                  <a:pt x="111" y="19550"/>
                </a:cubicBezTo>
                <a:cubicBezTo>
                  <a:pt x="180" y="19969"/>
                  <a:pt x="288" y="20343"/>
                  <a:pt x="427" y="20651"/>
                </a:cubicBezTo>
                <a:cubicBezTo>
                  <a:pt x="566" y="20959"/>
                  <a:pt x="735" y="21202"/>
                  <a:pt x="924" y="21355"/>
                </a:cubicBezTo>
                <a:cubicBezTo>
                  <a:pt x="1055" y="21476"/>
                  <a:pt x="1219" y="21537"/>
                  <a:pt x="1432" y="21568"/>
                </a:cubicBezTo>
                <a:cubicBezTo>
                  <a:pt x="1645" y="21598"/>
                  <a:pt x="1910" y="21596"/>
                  <a:pt x="2238" y="21596"/>
                </a:cubicBezTo>
                <a:lnTo>
                  <a:pt x="21600" y="21596"/>
                </a:lnTo>
                <a:lnTo>
                  <a:pt x="21600" y="0"/>
                </a:lnTo>
                <a:lnTo>
                  <a:pt x="2238" y="0"/>
                </a:lnTo>
                <a:close/>
              </a:path>
            </a:pathLst>
          </a:custGeom>
          <a:solidFill>
            <a:srgbClr val="B6DDE6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r>
              <a:rPr lang="en-US" altLang="ko-KR" dirty="0"/>
              <a:t>Non-atomic:</a:t>
            </a:r>
          </a:p>
          <a:p>
            <a:r>
              <a:rPr lang="en-US" altLang="ko-KR" dirty="0">
                <a:solidFill>
                  <a:srgbClr val="0070C0"/>
                </a:solidFill>
              </a:rPr>
              <a:t>In-order </a:t>
            </a:r>
            <a:r>
              <a:rPr lang="en-US" altLang="ko-KR" sz="3000" dirty="0">
                <a:solidFill>
                  <a:srgbClr val="0070C0"/>
                </a:solidFill>
              </a:rPr>
              <a:t>(Race-Free)</a:t>
            </a:r>
          </a:p>
        </p:txBody>
      </p:sp>
      <p:sp>
        <p:nvSpPr>
          <p:cNvPr id="24" name="Atomic:…">
            <a:extLst>
              <a:ext uri="{FF2B5EF4-FFF2-40B4-BE49-F238E27FC236}">
                <a16:creationId xmlns:a16="http://schemas.microsoft.com/office/drawing/2014/main" id="{CACEFDEB-21B3-4492-B180-595365C96F47}"/>
              </a:ext>
            </a:extLst>
          </p:cNvPr>
          <p:cNvSpPr/>
          <p:nvPr/>
        </p:nvSpPr>
        <p:spPr>
          <a:xfrm>
            <a:off x="16170413" y="3528980"/>
            <a:ext cx="4639072" cy="20947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extrusionOk="0">
                <a:moveTo>
                  <a:pt x="0" y="0"/>
                </a:moveTo>
                <a:lnTo>
                  <a:pt x="0" y="21596"/>
                </a:lnTo>
                <a:lnTo>
                  <a:pt x="19355" y="21596"/>
                </a:lnTo>
                <a:cubicBezTo>
                  <a:pt x="19684" y="21596"/>
                  <a:pt x="19949" y="21598"/>
                  <a:pt x="20163" y="21568"/>
                </a:cubicBezTo>
                <a:cubicBezTo>
                  <a:pt x="20377" y="21537"/>
                  <a:pt x="20541" y="21476"/>
                  <a:pt x="20673" y="21355"/>
                </a:cubicBezTo>
                <a:cubicBezTo>
                  <a:pt x="20863" y="21202"/>
                  <a:pt x="21032" y="20959"/>
                  <a:pt x="21172" y="20651"/>
                </a:cubicBezTo>
                <a:cubicBezTo>
                  <a:pt x="21311" y="20343"/>
                  <a:pt x="21420" y="19969"/>
                  <a:pt x="21489" y="19550"/>
                </a:cubicBezTo>
                <a:cubicBezTo>
                  <a:pt x="21544" y="19260"/>
                  <a:pt x="21571" y="18897"/>
                  <a:pt x="21585" y="18425"/>
                </a:cubicBezTo>
                <a:cubicBezTo>
                  <a:pt x="21599" y="17953"/>
                  <a:pt x="21600" y="17372"/>
                  <a:pt x="21600" y="16645"/>
                </a:cubicBezTo>
                <a:lnTo>
                  <a:pt x="21600" y="4951"/>
                </a:lnTo>
                <a:cubicBezTo>
                  <a:pt x="21600" y="4224"/>
                  <a:pt x="21599" y="3643"/>
                  <a:pt x="21585" y="3171"/>
                </a:cubicBezTo>
                <a:cubicBezTo>
                  <a:pt x="21571" y="2699"/>
                  <a:pt x="21544" y="2336"/>
                  <a:pt x="21489" y="2046"/>
                </a:cubicBezTo>
                <a:cubicBezTo>
                  <a:pt x="21420" y="1627"/>
                  <a:pt x="21311" y="1253"/>
                  <a:pt x="21172" y="945"/>
                </a:cubicBezTo>
                <a:cubicBezTo>
                  <a:pt x="21032" y="637"/>
                  <a:pt x="20863" y="394"/>
                  <a:pt x="20673" y="241"/>
                </a:cubicBezTo>
                <a:cubicBezTo>
                  <a:pt x="20541" y="120"/>
                  <a:pt x="20377" y="59"/>
                  <a:pt x="20163" y="28"/>
                </a:cubicBezTo>
                <a:cubicBezTo>
                  <a:pt x="19949" y="-2"/>
                  <a:pt x="19684" y="0"/>
                  <a:pt x="19355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B6DDE6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r>
              <a:rPr dirty="0"/>
              <a:t>Atomic:</a:t>
            </a:r>
          </a:p>
          <a:p>
            <a:r>
              <a:rPr dirty="0">
                <a:solidFill>
                  <a:srgbClr val="0070C0"/>
                </a:solidFill>
              </a:rPr>
              <a:t>In-order</a:t>
            </a:r>
          </a:p>
        </p:txBody>
      </p:sp>
      <p:sp>
        <p:nvSpPr>
          <p:cNvPr id="25" name="Source model">
            <a:extLst>
              <a:ext uri="{FF2B5EF4-FFF2-40B4-BE49-F238E27FC236}">
                <a16:creationId xmlns:a16="http://schemas.microsoft.com/office/drawing/2014/main" id="{790790E5-50DF-4777-BCD5-A91942FF0170}"/>
              </a:ext>
            </a:extLst>
          </p:cNvPr>
          <p:cNvSpPr txBox="1"/>
          <p:nvPr/>
        </p:nvSpPr>
        <p:spPr>
          <a:xfrm>
            <a:off x="14969954" y="2390676"/>
            <a:ext cx="2731517" cy="948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US" sz="5500" dirty="0"/>
              <a:t>(v)RC11</a:t>
            </a:r>
            <a:endParaRPr sz="5500" dirty="0"/>
          </a:p>
        </p:txBody>
      </p:sp>
      <p:pic>
        <p:nvPicPr>
          <p:cNvPr id="27" name="Line Shape" descr="Line Shape">
            <a:extLst>
              <a:ext uri="{FF2B5EF4-FFF2-40B4-BE49-F238E27FC236}">
                <a16:creationId xmlns:a16="http://schemas.microsoft.com/office/drawing/2014/main" id="{B4168661-A3D4-4C37-800C-715554AC6D1D}"/>
              </a:ext>
            </a:extLst>
          </p:cNvPr>
          <p:cNvPicPr>
            <a:picLocks/>
          </p:cNvPicPr>
          <p:nvPr/>
        </p:nvPicPr>
        <p:blipFill>
          <a:blip r:embed="rId3">
            <a:biLevel thresh="75000"/>
            <a:extLst/>
          </a:blip>
          <a:stretch>
            <a:fillRect/>
          </a:stretch>
        </p:blipFill>
        <p:spPr>
          <a:xfrm flipH="1">
            <a:off x="9894194" y="5982357"/>
            <a:ext cx="2682864" cy="2663767"/>
          </a:xfrm>
          <a:prstGeom prst="rect">
            <a:avLst/>
          </a:prstGeom>
        </p:spPr>
      </p:pic>
      <p:sp>
        <p:nvSpPr>
          <p:cNvPr id="46" name="Line">
            <a:extLst>
              <a:ext uri="{FF2B5EF4-FFF2-40B4-BE49-F238E27FC236}">
                <a16:creationId xmlns:a16="http://schemas.microsoft.com/office/drawing/2014/main" id="{7EF131AF-BAF4-4BF7-96D6-18C28A501DE2}"/>
              </a:ext>
            </a:extLst>
          </p:cNvPr>
          <p:cNvSpPr/>
          <p:nvPr/>
        </p:nvSpPr>
        <p:spPr>
          <a:xfrm flipH="1">
            <a:off x="19243567" y="5674490"/>
            <a:ext cx="14949" cy="1783503"/>
          </a:xfrm>
          <a:prstGeom prst="line">
            <a:avLst/>
          </a:prstGeom>
          <a:ln w="2032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Line">
            <a:extLst>
              <a:ext uri="{FF2B5EF4-FFF2-40B4-BE49-F238E27FC236}">
                <a16:creationId xmlns:a16="http://schemas.microsoft.com/office/drawing/2014/main" id="{BF3ED3B5-966F-40C7-AB96-A6DA0D20DD4B}"/>
              </a:ext>
            </a:extLst>
          </p:cNvPr>
          <p:cNvSpPr/>
          <p:nvPr/>
        </p:nvSpPr>
        <p:spPr>
          <a:xfrm flipH="1">
            <a:off x="13096406" y="5674490"/>
            <a:ext cx="14949" cy="1821496"/>
          </a:xfrm>
          <a:prstGeom prst="line">
            <a:avLst/>
          </a:prstGeom>
          <a:ln w="2032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" name="Line">
            <a:extLst>
              <a:ext uri="{FF2B5EF4-FFF2-40B4-BE49-F238E27FC236}">
                <a16:creationId xmlns:a16="http://schemas.microsoft.com/office/drawing/2014/main" id="{BAF7D485-6595-488B-9A1E-2B81C9863736}"/>
              </a:ext>
            </a:extLst>
          </p:cNvPr>
          <p:cNvSpPr/>
          <p:nvPr/>
        </p:nvSpPr>
        <p:spPr>
          <a:xfrm flipH="1">
            <a:off x="19190789" y="9558511"/>
            <a:ext cx="16556" cy="1344916"/>
          </a:xfrm>
          <a:prstGeom prst="line">
            <a:avLst/>
          </a:prstGeom>
          <a:ln w="2032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" name="opt.">
            <a:extLst>
              <a:ext uri="{FF2B5EF4-FFF2-40B4-BE49-F238E27FC236}">
                <a16:creationId xmlns:a16="http://schemas.microsoft.com/office/drawing/2014/main" id="{2E4FC41C-C34E-402C-AD3D-AAEF87BB0F65}"/>
              </a:ext>
            </a:extLst>
          </p:cNvPr>
          <p:cNvSpPr txBox="1"/>
          <p:nvPr/>
        </p:nvSpPr>
        <p:spPr>
          <a:xfrm>
            <a:off x="9322972" y="5443989"/>
            <a:ext cx="1267976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/>
              <a:t>O</a:t>
            </a:r>
            <a:r>
              <a:rPr dirty="0"/>
              <a:t>pt.</a:t>
            </a:r>
          </a:p>
        </p:txBody>
      </p:sp>
      <p:sp>
        <p:nvSpPr>
          <p:cNvPr id="33" name="Dingbat Check">
            <a:extLst>
              <a:ext uri="{FF2B5EF4-FFF2-40B4-BE49-F238E27FC236}">
                <a16:creationId xmlns:a16="http://schemas.microsoft.com/office/drawing/2014/main" id="{7EB548F0-6B68-4664-A05C-D8061A3BD2F8}"/>
              </a:ext>
            </a:extLst>
          </p:cNvPr>
          <p:cNvSpPr/>
          <p:nvPr/>
        </p:nvSpPr>
        <p:spPr>
          <a:xfrm>
            <a:off x="8780724" y="4892918"/>
            <a:ext cx="1084496" cy="1122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2" h="20404" extrusionOk="0">
                <a:moveTo>
                  <a:pt x="19340" y="6"/>
                </a:moveTo>
                <a:cubicBezTo>
                  <a:pt x="18911" y="-308"/>
                  <a:pt x="8317" y="11620"/>
                  <a:pt x="6423" y="13985"/>
                </a:cubicBezTo>
                <a:cubicBezTo>
                  <a:pt x="6323" y="14108"/>
                  <a:pt x="6215" y="14226"/>
                  <a:pt x="6090" y="14370"/>
                </a:cubicBezTo>
                <a:cubicBezTo>
                  <a:pt x="5960" y="14216"/>
                  <a:pt x="5854" y="14096"/>
                  <a:pt x="5755" y="13971"/>
                </a:cubicBezTo>
                <a:cubicBezTo>
                  <a:pt x="4964" y="12967"/>
                  <a:pt x="4458" y="12167"/>
                  <a:pt x="3657" y="11171"/>
                </a:cubicBezTo>
                <a:cubicBezTo>
                  <a:pt x="3337" y="10773"/>
                  <a:pt x="2972" y="10410"/>
                  <a:pt x="2634" y="10026"/>
                </a:cubicBezTo>
                <a:cubicBezTo>
                  <a:pt x="2472" y="9843"/>
                  <a:pt x="2283" y="9849"/>
                  <a:pt x="2071" y="9915"/>
                </a:cubicBezTo>
                <a:cubicBezTo>
                  <a:pt x="1856" y="9981"/>
                  <a:pt x="1574" y="9982"/>
                  <a:pt x="1303" y="10152"/>
                </a:cubicBezTo>
                <a:cubicBezTo>
                  <a:pt x="1209" y="10262"/>
                  <a:pt x="1332" y="10438"/>
                  <a:pt x="1349" y="10609"/>
                </a:cubicBezTo>
                <a:cubicBezTo>
                  <a:pt x="1369" y="10821"/>
                  <a:pt x="603" y="10792"/>
                  <a:pt x="203" y="11061"/>
                </a:cubicBezTo>
                <a:cubicBezTo>
                  <a:pt x="111" y="11123"/>
                  <a:pt x="286" y="11375"/>
                  <a:pt x="227" y="11440"/>
                </a:cubicBezTo>
                <a:cubicBezTo>
                  <a:pt x="51" y="11634"/>
                  <a:pt x="-61" y="11588"/>
                  <a:pt x="36" y="11826"/>
                </a:cubicBezTo>
                <a:cubicBezTo>
                  <a:pt x="896" y="13941"/>
                  <a:pt x="2182" y="15733"/>
                  <a:pt x="3218" y="17879"/>
                </a:cubicBezTo>
                <a:cubicBezTo>
                  <a:pt x="4865" y="21292"/>
                  <a:pt x="5178" y="19166"/>
                  <a:pt x="5654" y="19575"/>
                </a:cubicBezTo>
                <a:cubicBezTo>
                  <a:pt x="7119" y="20836"/>
                  <a:pt x="6474" y="21179"/>
                  <a:pt x="9921" y="16770"/>
                </a:cubicBezTo>
                <a:cubicBezTo>
                  <a:pt x="11378" y="14721"/>
                  <a:pt x="19009" y="5203"/>
                  <a:pt x="20710" y="3334"/>
                </a:cubicBezTo>
                <a:cubicBezTo>
                  <a:pt x="20919" y="3106"/>
                  <a:pt x="21118" y="2879"/>
                  <a:pt x="21258" y="2594"/>
                </a:cubicBezTo>
                <a:cubicBezTo>
                  <a:pt x="21526" y="2050"/>
                  <a:pt x="21539" y="2066"/>
                  <a:pt x="21150" y="1624"/>
                </a:cubicBezTo>
                <a:cubicBezTo>
                  <a:pt x="21006" y="1461"/>
                  <a:pt x="20856" y="1427"/>
                  <a:pt x="20646" y="1437"/>
                </a:cubicBezTo>
                <a:cubicBezTo>
                  <a:pt x="20244" y="1456"/>
                  <a:pt x="20044" y="1227"/>
                  <a:pt x="20086" y="860"/>
                </a:cubicBezTo>
                <a:cubicBezTo>
                  <a:pt x="20096" y="778"/>
                  <a:pt x="20075" y="672"/>
                  <a:pt x="20023" y="612"/>
                </a:cubicBezTo>
                <a:cubicBezTo>
                  <a:pt x="19903" y="469"/>
                  <a:pt x="19492" y="117"/>
                  <a:pt x="19340" y="6"/>
                </a:cubicBezTo>
                <a:close/>
              </a:path>
            </a:pathLst>
          </a:cu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" name="Single-threaded model (SEQ)">
            <a:extLst>
              <a:ext uri="{FF2B5EF4-FFF2-40B4-BE49-F238E27FC236}">
                <a16:creationId xmlns:a16="http://schemas.microsoft.com/office/drawing/2014/main" id="{C8B73C01-66F8-44AA-A485-A883083C4BDF}"/>
              </a:ext>
            </a:extLst>
          </p:cNvPr>
          <p:cNvSpPr/>
          <p:nvPr/>
        </p:nvSpPr>
        <p:spPr>
          <a:xfrm>
            <a:off x="4742097" y="7479069"/>
            <a:ext cx="4639073" cy="2094791"/>
          </a:xfrm>
          <a:prstGeom prst="roundRect">
            <a:avLst>
              <a:gd name="adj" fmla="val 15000"/>
            </a:avLst>
          </a:prstGeom>
          <a:solidFill>
            <a:srgbClr val="B6DDE6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r>
              <a:rPr dirty="0"/>
              <a:t>Single-threaded</a:t>
            </a:r>
            <a:br>
              <a:rPr dirty="0"/>
            </a:br>
            <a:r>
              <a:rPr dirty="0"/>
              <a:t>model</a:t>
            </a:r>
          </a:p>
        </p:txBody>
      </p:sp>
      <p:sp>
        <p:nvSpPr>
          <p:cNvPr id="39" name="PLDI’22">
            <a:extLst>
              <a:ext uri="{FF2B5EF4-FFF2-40B4-BE49-F238E27FC236}">
                <a16:creationId xmlns:a16="http://schemas.microsoft.com/office/drawing/2014/main" id="{DC2BB471-4C27-4464-8408-4358977DA3A5}"/>
              </a:ext>
            </a:extLst>
          </p:cNvPr>
          <p:cNvSpPr txBox="1"/>
          <p:nvPr/>
        </p:nvSpPr>
        <p:spPr>
          <a:xfrm>
            <a:off x="6099756" y="6637813"/>
            <a:ext cx="3250890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US" altLang="ko-KR" dirty="0"/>
              <a:t>SEQ</a:t>
            </a:r>
            <a:r>
              <a:rPr lang="en-US" altLang="ko-KR" sz="3500" dirty="0"/>
              <a:t>[PLDI’22]</a:t>
            </a:r>
            <a:endParaRPr sz="3500" dirty="0"/>
          </a:p>
        </p:txBody>
      </p:sp>
      <p:sp>
        <p:nvSpPr>
          <p:cNvPr id="41" name="Simple model…">
            <a:extLst>
              <a:ext uri="{FF2B5EF4-FFF2-40B4-BE49-F238E27FC236}">
                <a16:creationId xmlns:a16="http://schemas.microsoft.com/office/drawing/2014/main" id="{8D4E4EDF-A013-4B74-BFB0-427B8275AD2B}"/>
              </a:ext>
            </a:extLst>
          </p:cNvPr>
          <p:cNvSpPr/>
          <p:nvPr/>
        </p:nvSpPr>
        <p:spPr>
          <a:xfrm>
            <a:off x="2672686" y="10699113"/>
            <a:ext cx="7566770" cy="2144475"/>
          </a:xfrm>
          <a:prstGeom prst="wedgeEllipseCallout">
            <a:avLst>
              <a:gd name="adj1" fmla="val 8864"/>
              <a:gd name="adj2" fmla="val -103530"/>
            </a:avLst>
          </a:prstGeom>
          <a:solidFill>
            <a:schemeClr val="accent1">
              <a:lumOff val="-1357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Simple model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for compiler writers</a:t>
            </a:r>
          </a:p>
        </p:txBody>
      </p:sp>
      <p:pic>
        <p:nvPicPr>
          <p:cNvPr id="42" name="Line Shape" descr="Line Shape">
            <a:extLst>
              <a:ext uri="{FF2B5EF4-FFF2-40B4-BE49-F238E27FC236}">
                <a16:creationId xmlns:a16="http://schemas.microsoft.com/office/drawing/2014/main" id="{06F16655-D1DE-4572-9829-01787F96C3C4}"/>
              </a:ext>
            </a:extLst>
          </p:cNvPr>
          <p:cNvPicPr>
            <a:picLocks/>
          </p:cNvPicPr>
          <p:nvPr/>
        </p:nvPicPr>
        <p:blipFill>
          <a:blip r:embed="rId3">
            <a:biLevel thresh="75000"/>
            <a:extLst/>
          </a:blip>
          <a:stretch>
            <a:fillRect/>
          </a:stretch>
        </p:blipFill>
        <p:spPr>
          <a:xfrm flipH="1">
            <a:off x="3231465" y="5991876"/>
            <a:ext cx="2682864" cy="2663767"/>
          </a:xfrm>
          <a:prstGeom prst="rect">
            <a:avLst/>
          </a:prstGeom>
        </p:spPr>
      </p:pic>
      <p:sp>
        <p:nvSpPr>
          <p:cNvPr id="43" name="opt.">
            <a:extLst>
              <a:ext uri="{FF2B5EF4-FFF2-40B4-BE49-F238E27FC236}">
                <a16:creationId xmlns:a16="http://schemas.microsoft.com/office/drawing/2014/main" id="{A11579BF-7322-4F85-882B-53448B75031C}"/>
              </a:ext>
            </a:extLst>
          </p:cNvPr>
          <p:cNvSpPr txBox="1"/>
          <p:nvPr/>
        </p:nvSpPr>
        <p:spPr>
          <a:xfrm>
            <a:off x="2812646" y="5419640"/>
            <a:ext cx="1267976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/>
              <a:t>O</a:t>
            </a:r>
            <a:r>
              <a:rPr dirty="0"/>
              <a:t>pt.</a:t>
            </a:r>
          </a:p>
        </p:txBody>
      </p:sp>
      <p:sp>
        <p:nvSpPr>
          <p:cNvPr id="44" name="Dingbat Check">
            <a:extLst>
              <a:ext uri="{FF2B5EF4-FFF2-40B4-BE49-F238E27FC236}">
                <a16:creationId xmlns:a16="http://schemas.microsoft.com/office/drawing/2014/main" id="{6EBD9180-31EB-4EA4-8284-071330A220C5}"/>
              </a:ext>
            </a:extLst>
          </p:cNvPr>
          <p:cNvSpPr/>
          <p:nvPr/>
        </p:nvSpPr>
        <p:spPr>
          <a:xfrm>
            <a:off x="2270398" y="4868569"/>
            <a:ext cx="1084496" cy="1122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2" h="20404" extrusionOk="0">
                <a:moveTo>
                  <a:pt x="19340" y="6"/>
                </a:moveTo>
                <a:cubicBezTo>
                  <a:pt x="18911" y="-308"/>
                  <a:pt x="8317" y="11620"/>
                  <a:pt x="6423" y="13985"/>
                </a:cubicBezTo>
                <a:cubicBezTo>
                  <a:pt x="6323" y="14108"/>
                  <a:pt x="6215" y="14226"/>
                  <a:pt x="6090" y="14370"/>
                </a:cubicBezTo>
                <a:cubicBezTo>
                  <a:pt x="5960" y="14216"/>
                  <a:pt x="5854" y="14096"/>
                  <a:pt x="5755" y="13971"/>
                </a:cubicBezTo>
                <a:cubicBezTo>
                  <a:pt x="4964" y="12967"/>
                  <a:pt x="4458" y="12167"/>
                  <a:pt x="3657" y="11171"/>
                </a:cubicBezTo>
                <a:cubicBezTo>
                  <a:pt x="3337" y="10773"/>
                  <a:pt x="2972" y="10410"/>
                  <a:pt x="2634" y="10026"/>
                </a:cubicBezTo>
                <a:cubicBezTo>
                  <a:pt x="2472" y="9843"/>
                  <a:pt x="2283" y="9849"/>
                  <a:pt x="2071" y="9915"/>
                </a:cubicBezTo>
                <a:cubicBezTo>
                  <a:pt x="1856" y="9981"/>
                  <a:pt x="1574" y="9982"/>
                  <a:pt x="1303" y="10152"/>
                </a:cubicBezTo>
                <a:cubicBezTo>
                  <a:pt x="1209" y="10262"/>
                  <a:pt x="1332" y="10438"/>
                  <a:pt x="1349" y="10609"/>
                </a:cubicBezTo>
                <a:cubicBezTo>
                  <a:pt x="1369" y="10821"/>
                  <a:pt x="603" y="10792"/>
                  <a:pt x="203" y="11061"/>
                </a:cubicBezTo>
                <a:cubicBezTo>
                  <a:pt x="111" y="11123"/>
                  <a:pt x="286" y="11375"/>
                  <a:pt x="227" y="11440"/>
                </a:cubicBezTo>
                <a:cubicBezTo>
                  <a:pt x="51" y="11634"/>
                  <a:pt x="-61" y="11588"/>
                  <a:pt x="36" y="11826"/>
                </a:cubicBezTo>
                <a:cubicBezTo>
                  <a:pt x="896" y="13941"/>
                  <a:pt x="2182" y="15733"/>
                  <a:pt x="3218" y="17879"/>
                </a:cubicBezTo>
                <a:cubicBezTo>
                  <a:pt x="4865" y="21292"/>
                  <a:pt x="5178" y="19166"/>
                  <a:pt x="5654" y="19575"/>
                </a:cubicBezTo>
                <a:cubicBezTo>
                  <a:pt x="7119" y="20836"/>
                  <a:pt x="6474" y="21179"/>
                  <a:pt x="9921" y="16770"/>
                </a:cubicBezTo>
                <a:cubicBezTo>
                  <a:pt x="11378" y="14721"/>
                  <a:pt x="19009" y="5203"/>
                  <a:pt x="20710" y="3334"/>
                </a:cubicBezTo>
                <a:cubicBezTo>
                  <a:pt x="20919" y="3106"/>
                  <a:pt x="21118" y="2879"/>
                  <a:pt x="21258" y="2594"/>
                </a:cubicBezTo>
                <a:cubicBezTo>
                  <a:pt x="21526" y="2050"/>
                  <a:pt x="21539" y="2066"/>
                  <a:pt x="21150" y="1624"/>
                </a:cubicBezTo>
                <a:cubicBezTo>
                  <a:pt x="21006" y="1461"/>
                  <a:pt x="20856" y="1427"/>
                  <a:pt x="20646" y="1437"/>
                </a:cubicBezTo>
                <a:cubicBezTo>
                  <a:pt x="20244" y="1456"/>
                  <a:pt x="20044" y="1227"/>
                  <a:pt x="20086" y="860"/>
                </a:cubicBezTo>
                <a:cubicBezTo>
                  <a:pt x="20096" y="778"/>
                  <a:pt x="20075" y="672"/>
                  <a:pt x="20023" y="612"/>
                </a:cubicBezTo>
                <a:cubicBezTo>
                  <a:pt x="19903" y="469"/>
                  <a:pt x="19492" y="117"/>
                  <a:pt x="19340" y="6"/>
                </a:cubicBezTo>
                <a:close/>
              </a:path>
            </a:pathLst>
          </a:cu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04E2A4F-530C-4B6A-B2C7-01842B199F72}"/>
              </a:ext>
            </a:extLst>
          </p:cNvPr>
          <p:cNvGrpSpPr/>
          <p:nvPr/>
        </p:nvGrpSpPr>
        <p:grpSpPr>
          <a:xfrm>
            <a:off x="4249210" y="4509752"/>
            <a:ext cx="5251011" cy="1956946"/>
            <a:chOff x="4029076" y="4645218"/>
            <a:chExt cx="5251011" cy="19569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">
                  <a:extLst>
                    <a:ext uri="{FF2B5EF4-FFF2-40B4-BE49-F238E27FC236}">
                      <a16:creationId xmlns:a16="http://schemas.microsoft.com/office/drawing/2014/main" id="{3F66DBD3-BA63-4D9F-B735-B188501BADF9}"/>
                    </a:ext>
                  </a:extLst>
                </p:cNvPr>
                <p:cNvSpPr txBox="1"/>
                <p:nvPr/>
              </p:nvSpPr>
              <p:spPr>
                <a:xfrm>
                  <a:off x="6204310" y="4645218"/>
                  <a:ext cx="3075777" cy="195694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anchor="ctr">
                  <a:spAutoFit/>
                </a:bodyPr>
                <a:lstStyle>
                  <a:lvl1pPr>
                    <a:defRPr sz="10000"/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205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⟹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45" name="Text">
                  <a:extLst>
                    <a:ext uri="{FF2B5EF4-FFF2-40B4-BE49-F238E27FC236}">
                      <a16:creationId xmlns:a16="http://schemas.microsoft.com/office/drawing/2014/main" id="{3F66DBD3-BA63-4D9F-B735-B188501BAD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4310" y="4645218"/>
                  <a:ext cx="3075777" cy="195694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E3839972-6A91-4AAD-805B-7AA56A4AF241}"/>
                </a:ext>
              </a:extLst>
            </p:cNvPr>
            <p:cNvCxnSpPr/>
            <p:nvPr/>
          </p:nvCxnSpPr>
          <p:spPr>
            <a:xfrm flipH="1">
              <a:off x="4029076" y="5595115"/>
              <a:ext cx="2686050" cy="0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0A97AD69-5DBD-47E2-8A22-EDC198F9537E}"/>
                </a:ext>
              </a:extLst>
            </p:cNvPr>
            <p:cNvCxnSpPr/>
            <p:nvPr/>
          </p:nvCxnSpPr>
          <p:spPr>
            <a:xfrm flipH="1">
              <a:off x="4038597" y="5904683"/>
              <a:ext cx="2686050" cy="0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56" name="Simple model…">
            <a:extLst>
              <a:ext uri="{FF2B5EF4-FFF2-40B4-BE49-F238E27FC236}">
                <a16:creationId xmlns:a16="http://schemas.microsoft.com/office/drawing/2014/main" id="{C5D597C1-6EAA-44A0-AC53-2DE801E774AF}"/>
              </a:ext>
            </a:extLst>
          </p:cNvPr>
          <p:cNvSpPr/>
          <p:nvPr/>
        </p:nvSpPr>
        <p:spPr>
          <a:xfrm>
            <a:off x="2327424" y="2369806"/>
            <a:ext cx="7566770" cy="2144475"/>
          </a:xfrm>
          <a:prstGeom prst="wedgeEllipseCallout">
            <a:avLst>
              <a:gd name="adj1" fmla="val 116952"/>
              <a:gd name="adj2" fmla="val -24567"/>
            </a:avLst>
          </a:prstGeom>
          <a:solidFill>
            <a:schemeClr val="accent1">
              <a:lumOff val="-1357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Simple model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for </a:t>
            </a:r>
            <a:r>
              <a:rPr lang="en-US" dirty="0"/>
              <a:t>programmers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802687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7" grpId="0" animBg="1"/>
      <p:bldP spid="39" grpId="0" animBg="1"/>
      <p:bldP spid="41" grpId="0" animBg="1"/>
      <p:bldP spid="43" grpId="0" animBg="1"/>
      <p:bldP spid="44" grpId="0" animBg="1"/>
      <p:bldP spid="5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ropose “strong store”: only prevents reordering with previous loads…"/>
          <p:cNvSpPr txBox="1"/>
          <p:nvPr/>
        </p:nvSpPr>
        <p:spPr>
          <a:xfrm>
            <a:off x="1689100" y="2297767"/>
            <a:ext cx="21005800" cy="9506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a14="http://schemas.microsoft.com/office/drawing/2010/main" xmlns:ma14="http://schemas.microsoft.com/office/mac/drawingml/2011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pPr marL="635000" indent="-635000" algn="l">
              <a:spcBef>
                <a:spcPts val="4000"/>
              </a:spcBef>
              <a:buSzPct val="125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b="1" dirty="0"/>
              <a:t>Support Dynamic Allocation</a:t>
            </a:r>
          </a:p>
          <a:p>
            <a:pPr marL="1270000" lvl="1" indent="-635000" algn="l">
              <a:spcBef>
                <a:spcPts val="4000"/>
              </a:spcBef>
              <a:buSzPct val="125000"/>
              <a:buChar char="-"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dirty="0"/>
              <a:t>Work in Progress</a:t>
            </a:r>
          </a:p>
          <a:p>
            <a:pPr marL="1270000" lvl="1" indent="-635000" algn="l">
              <a:spcBef>
                <a:spcPts val="4000"/>
              </a:spcBef>
              <a:buSzPct val="125000"/>
              <a:buChar char="-"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dirty="0"/>
              <a:t>Interesting Challenges (all resolved now)</a:t>
            </a:r>
          </a:p>
          <a:p>
            <a:pPr marL="635000" indent="-635000" algn="l">
              <a:spcBef>
                <a:spcPts val="4000"/>
              </a:spcBef>
              <a:buSzPct val="125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b="1" dirty="0"/>
              <a:t>Develop </a:t>
            </a:r>
            <a:r>
              <a:rPr lang="en-US" altLang="ko-KR" b="1" dirty="0" err="1"/>
              <a:t>CompCertWM</a:t>
            </a:r>
            <a:endParaRPr lang="en-US" altLang="ko-KR" b="1" dirty="0"/>
          </a:p>
          <a:p>
            <a:pPr marL="1270000" lvl="1" indent="-635000" algn="l">
              <a:spcBef>
                <a:spcPts val="4000"/>
              </a:spcBef>
              <a:buSzPct val="125000"/>
              <a:buFontTx/>
              <a:buChar char="-"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dirty="0"/>
              <a:t>Plan to start in a year</a:t>
            </a:r>
          </a:p>
          <a:p>
            <a:pPr marL="1270000" lvl="1" indent="-635000" algn="l">
              <a:spcBef>
                <a:spcPts val="4000"/>
              </a:spcBef>
              <a:buSzPct val="125000"/>
              <a:buChar char="-"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dirty="0"/>
              <a:t>Expect to reuse existing proofs (thanks to the SEQ approach) </a:t>
            </a:r>
          </a:p>
          <a:p>
            <a:pPr marL="635000" indent="-635000" algn="l">
              <a:spcBef>
                <a:spcPts val="4000"/>
              </a:spcBef>
              <a:buSzPct val="125000"/>
              <a:buFontTx/>
              <a:buChar char="•"/>
              <a:defRPr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b="1" dirty="0"/>
              <a:t>Add SC reads/writes</a:t>
            </a:r>
          </a:p>
          <a:p>
            <a:pPr marL="635000" indent="-635000" algn="l">
              <a:spcBef>
                <a:spcPts val="4000"/>
              </a:spcBef>
              <a:buSzPct val="125000"/>
              <a:buChar char="•"/>
              <a:defRPr b="1">
                <a:latin typeface="Helvetica Neue"/>
                <a:ea typeface="Helvetica Neue"/>
                <a:cs typeface="Helvetica Neue"/>
                <a:sym typeface="Helvetica Neue"/>
              </a:defRPr>
            </a:pPr>
            <a:endParaRPr lang="en-US" altLang="ko-KR" dirty="0"/>
          </a:p>
        </p:txBody>
      </p:sp>
      <p:sp>
        <p:nvSpPr>
          <p:cNvPr id="431" name="Our Solution for An Efficient In-order Model"/>
          <p:cNvSpPr txBox="1">
            <a:spLocks noGrp="1"/>
          </p:cNvSpPr>
          <p:nvPr>
            <p:ph type="title"/>
          </p:nvPr>
        </p:nvSpPr>
        <p:spPr>
          <a:xfrm>
            <a:off x="1448872" y="-24397"/>
            <a:ext cx="21486256" cy="2286001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rPr lang="en-US" dirty="0"/>
              <a:t>Future Work</a:t>
            </a:r>
            <a:endParaRPr dirty="0"/>
          </a:p>
        </p:txBody>
      </p:sp>
      <p:sp>
        <p:nvSpPr>
          <p:cNvPr id="432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907399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01"/>
          <p:cNvSpPr txBox="1">
            <a:spLocks noGrp="1"/>
          </p:cNvSpPr>
          <p:nvPr>
            <p:ph type="sldNum" sz="quarter" idx="2"/>
          </p:nvPr>
        </p:nvSpPr>
        <p:spPr>
          <a:xfrm>
            <a:off x="12035993" y="13081000"/>
            <a:ext cx="312014" cy="52308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sp>
        <p:nvSpPr>
          <p:cNvPr id="194" name="Can we model ALL relaxed behaviors with in-order executions?…"/>
          <p:cNvSpPr txBox="1">
            <a:spLocks noGrp="1"/>
          </p:cNvSpPr>
          <p:nvPr>
            <p:ph type="body" idx="1"/>
          </p:nvPr>
        </p:nvSpPr>
        <p:spPr>
          <a:xfrm>
            <a:off x="1689100" y="1120710"/>
            <a:ext cx="21005800" cy="1058361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sz="7000" dirty="0"/>
              <a:t>Discussion</a:t>
            </a:r>
          </a:p>
          <a:p>
            <a:pPr marL="0" indent="0" algn="ct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endParaRPr lang="en-US" altLang="ko-KR" sz="7000" dirty="0"/>
          </a:p>
          <a:p>
            <a:pPr marL="0" indent="0" algn="ct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sz="10000" dirty="0"/>
              <a:t>(v)RC11 as C standard?</a:t>
            </a:r>
          </a:p>
          <a:p>
            <a:pPr marL="0" indent="0" algn="ct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ko-KR" sz="10000" dirty="0"/>
              <a:t>How</a:t>
            </a:r>
            <a:r>
              <a:rPr lang="ko-KR" altLang="en-US" sz="10000" dirty="0"/>
              <a:t> </a:t>
            </a:r>
            <a:r>
              <a:rPr lang="en-US" altLang="ko-KR" sz="10000" dirty="0"/>
              <a:t>about</a:t>
            </a:r>
            <a:r>
              <a:rPr lang="ko-KR" altLang="en-US" sz="10000" dirty="0"/>
              <a:t> </a:t>
            </a:r>
            <a:r>
              <a:rPr lang="en-US" altLang="ko-KR" sz="10000"/>
              <a:t>GPUs?</a:t>
            </a:r>
            <a:endParaRPr lang="en-US" altLang="ko-KR" sz="10000" dirty="0"/>
          </a:p>
        </p:txBody>
      </p:sp>
    </p:spTree>
    <p:extLst>
      <p:ext uri="{BB962C8B-B14F-4D97-AF65-F5344CB8AC3E}">
        <p14:creationId xmlns:p14="http://schemas.microsoft.com/office/powerpoint/2010/main" val="142905821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2855</Words>
  <Application>Microsoft Office PowerPoint</Application>
  <PresentationFormat>사용자 지정</PresentationFormat>
  <Paragraphs>312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Helvetica Neue</vt:lpstr>
      <vt:lpstr>Helvetica Neue Light</vt:lpstr>
      <vt:lpstr>Helvetica Neue Medium</vt:lpstr>
      <vt:lpstr>Helvetica Neue Thin</vt:lpstr>
      <vt:lpstr>Monaco</vt:lpstr>
      <vt:lpstr>새굴림</vt:lpstr>
      <vt:lpstr>Cambria Math</vt:lpstr>
      <vt:lpstr>Times New Roman</vt:lpstr>
      <vt:lpstr>White</vt:lpstr>
      <vt:lpstr>In-order execution nails every weak memory behavior</vt:lpstr>
      <vt:lpstr>Weak Memory Behaviors</vt:lpstr>
      <vt:lpstr>Weak Memory Models</vt:lpstr>
      <vt:lpstr>Positive Results [PLDI’23]</vt:lpstr>
      <vt:lpstr>PowerPoint 프레젠테이션</vt:lpstr>
      <vt:lpstr>Problems with (v)RC11</vt:lpstr>
      <vt:lpstr>Our Solution to The Problems</vt:lpstr>
      <vt:lpstr>PowerPoint 프레젠테이션</vt:lpstr>
      <vt:lpstr>Impact of Restricting RW Reordering</vt:lpstr>
      <vt:lpstr>Why So Small Benefits?</vt:lpstr>
      <vt:lpstr>Our Solution for Efficient Mapping</vt:lpstr>
      <vt:lpstr>PowerPoint 프레젠테이션</vt:lpstr>
      <vt:lpstr>Final Results (All formalized in Coq)</vt:lpstr>
      <vt:lpstr>Future Work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In-order execution nails every weak behavior</dc:title>
  <cp:lastModifiedBy>User</cp:lastModifiedBy>
  <cp:revision>109</cp:revision>
  <dcterms:modified xsi:type="dcterms:W3CDTF">2024-01-15T15:57:16Z</dcterms:modified>
</cp:coreProperties>
</file>